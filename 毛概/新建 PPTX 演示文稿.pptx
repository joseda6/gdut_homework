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3" r:id="rId5"/>
    <p:sldId id="265" r:id="rId6"/>
    <p:sldId id="268" r:id="rId7"/>
    <p:sldId id="266" r:id="rId8"/>
    <p:sldId id="267" r:id="rId9"/>
    <p:sldId id="269" r:id="rId10"/>
    <p:sldId id="270" r:id="rId11"/>
    <p:sldId id="271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0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4.png"/><Relationship Id="rId12" Type="http://schemas.openxmlformats.org/officeDocument/2006/relationships/image" Target="../media/image3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5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image" Target="../media/image6.png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image" Target="../media/image2.png"/><Relationship Id="rId5" Type="http://schemas.openxmlformats.org/officeDocument/2006/relationships/tags" Target="../tags/tag68.xml"/><Relationship Id="rId4" Type="http://schemas.openxmlformats.org/officeDocument/2006/relationships/image" Target="../media/image1.png"/><Relationship Id="rId3" Type="http://schemas.openxmlformats.org/officeDocument/2006/relationships/tags" Target="../tags/tag67.xml"/><Relationship Id="rId20" Type="http://schemas.openxmlformats.org/officeDocument/2006/relationships/tags" Target="../tags/tag80.xml"/><Relationship Id="rId2" Type="http://schemas.openxmlformats.org/officeDocument/2006/relationships/tags" Target="../tags/tag66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image" Target="../media/image4.png"/><Relationship Id="rId13" Type="http://schemas.openxmlformats.org/officeDocument/2006/relationships/tags" Target="../tags/tag74.xml"/><Relationship Id="rId12" Type="http://schemas.openxmlformats.org/officeDocument/2006/relationships/image" Target="../media/image3.png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2000">
                <a:schemeClr val="bg2"/>
              </a:gs>
              <a:gs pos="100000">
                <a:schemeClr val="bg2">
                  <a:lumMod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0" y="0"/>
            <a:ext cx="12192000" cy="34808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19302651">
            <a:off x="7729076" y="1574667"/>
            <a:ext cx="848646" cy="986854"/>
          </a:xfrm>
          <a:prstGeom prst="rect">
            <a:avLst/>
          </a:prstGeom>
        </p:spPr>
      </p:pic>
      <p:sp>
        <p:nvSpPr>
          <p:cNvPr id="9" name="椭圆 8"/>
          <p:cNvSpPr/>
          <p:nvPr userDrawn="1">
            <p:custDataLst>
              <p:tags r:id="rId7"/>
            </p:custDataLst>
          </p:nvPr>
        </p:nvSpPr>
        <p:spPr>
          <a:xfrm>
            <a:off x="7762308" y="1554409"/>
            <a:ext cx="3543758" cy="3543758"/>
          </a:xfrm>
          <a:prstGeom prst="ellipse">
            <a:avLst/>
          </a:prstGeom>
          <a:gradFill>
            <a:gsLst>
              <a:gs pos="77000">
                <a:schemeClr val="accent3">
                  <a:alpha val="0"/>
                </a:schemeClr>
              </a:gs>
              <a:gs pos="0">
                <a:schemeClr val="accent3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 userDrawn="1">
            <p:custDataLst>
              <p:tags r:id="rId8"/>
            </p:custDataLst>
          </p:nvPr>
        </p:nvCxnSpPr>
        <p:spPr>
          <a:xfrm flipV="1">
            <a:off x="1317625" y="854075"/>
            <a:ext cx="1651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9"/>
            </p:custDataLst>
          </p:nvPr>
        </p:nvCxnSpPr>
        <p:spPr>
          <a:xfrm flipV="1">
            <a:off x="1317625" y="803771"/>
            <a:ext cx="1651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10"/>
            </p:custDataLst>
          </p:nvPr>
        </p:nvCxnSpPr>
        <p:spPr>
          <a:xfrm flipV="1">
            <a:off x="1317625" y="753467"/>
            <a:ext cx="1651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6803443" y="1554409"/>
            <a:ext cx="5388557" cy="5245792"/>
          </a:xfrm>
          <a:prstGeom prst="rect">
            <a:avLst/>
          </a:prstGeom>
        </p:spPr>
      </p:pic>
      <p:pic>
        <p:nvPicPr>
          <p:cNvPr id="8" name="图片 7" descr="图片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5433060"/>
            <a:ext cx="12192000" cy="142494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7"/>
            </p:custDataLst>
          </p:nvPr>
        </p:nvSpPr>
        <p:spPr>
          <a:xfrm>
            <a:off x="1271588" y="1656000"/>
            <a:ext cx="539195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271588" y="3600000"/>
            <a:ext cx="5391952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1271588" y="4698000"/>
            <a:ext cx="2880000" cy="504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6330">
                <a:schemeClr val="accent3"/>
              </a:gs>
              <a:gs pos="34000">
                <a:schemeClr val="accent1"/>
              </a:gs>
            </a:gsLst>
            <a:lin ang="13500000" scaled="1"/>
            <a:tileRect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>
            <a:alphaModFix amt="20000"/>
          </a:blip>
          <a:srcRect/>
          <a:stretch>
            <a:fillRect/>
          </a:stretch>
        </p:blipFill>
        <p:spPr>
          <a:xfrm>
            <a:off x="0" y="0"/>
            <a:ext cx="12192000" cy="3479799"/>
          </a:xfrm>
          <a:prstGeom prst="rect">
            <a:avLst/>
          </a:prstGeom>
        </p:spPr>
      </p:pic>
      <p:sp>
        <p:nvSpPr>
          <p:cNvPr id="16" name="椭圆 15"/>
          <p:cNvSpPr/>
          <p:nvPr userDrawn="1">
            <p:custDataLst>
              <p:tags r:id="rId5"/>
            </p:custDataLst>
          </p:nvPr>
        </p:nvSpPr>
        <p:spPr>
          <a:xfrm>
            <a:off x="1385258" y="1949392"/>
            <a:ext cx="2643068" cy="2643068"/>
          </a:xfrm>
          <a:prstGeom prst="ellipse">
            <a:avLst/>
          </a:prstGeom>
          <a:gradFill>
            <a:gsLst>
              <a:gs pos="52000">
                <a:schemeClr val="accent3">
                  <a:alpha val="0"/>
                </a:schemeClr>
              </a:gs>
              <a:gs pos="0">
                <a:schemeClr val="accent3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 t="21558" b="30014"/>
          <a:stretch>
            <a:fillRect/>
          </a:stretch>
        </p:blipFill>
        <p:spPr>
          <a:xfrm flipH="1">
            <a:off x="1571298" y="1488674"/>
            <a:ext cx="1319116" cy="648386"/>
          </a:xfrm>
          <a:prstGeom prst="rect">
            <a:avLst/>
          </a:prstGeom>
        </p:spPr>
      </p:pic>
      <p:pic>
        <p:nvPicPr>
          <p:cNvPr id="12" name="图片 11" descr="图片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5767705"/>
            <a:ext cx="12192000" cy="1090295"/>
          </a:xfrm>
          <a:prstGeom prst="rect">
            <a:avLst/>
          </a:prstGeom>
        </p:spPr>
      </p:pic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2403313" y="2556521"/>
            <a:ext cx="974203" cy="1744958"/>
          </a:xfrm>
        </p:spPr>
        <p:txBody>
          <a:bodyPr vert="eaVert" wrap="square" anchor="b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 t="21558" b="30014"/>
          <a:stretch>
            <a:fillRect/>
          </a:stretch>
        </p:blipFill>
        <p:spPr>
          <a:xfrm flipH="1">
            <a:off x="1595810" y="1604477"/>
            <a:ext cx="1960190" cy="96349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526400" y="2629171"/>
            <a:ext cx="9144000" cy="1152000"/>
          </a:xfrm>
        </p:spPr>
        <p:txBody>
          <a:bodyPr wrap="square"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526400" y="3889171"/>
            <a:ext cx="9144000" cy="936000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178300" y="1343971"/>
            <a:ext cx="3835400" cy="1224000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6000" b="1">
                <a:gradFill>
                  <a:gsLst>
                    <a:gs pos="96330">
                      <a:schemeClr val="accent3"/>
                    </a:gs>
                    <a:gs pos="32000">
                      <a:schemeClr val="accent1"/>
                    </a:gs>
                    <a:gs pos="69000">
                      <a:schemeClr val="accent2"/>
                    </a:gs>
                  </a:gsLst>
                  <a:lin ang="13500000" scaled="1"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pic>
        <p:nvPicPr>
          <p:cNvPr id="9" name="图片 8" descr="图片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5231765"/>
            <a:ext cx="12192000" cy="1626235"/>
          </a:xfrm>
          <a:prstGeom prst="rect">
            <a:avLst/>
          </a:prstGeom>
        </p:spPr>
      </p:pic>
      <p:pic>
        <p:nvPicPr>
          <p:cNvPr id="10" name="图片 9" descr="图片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3810"/>
            <a:ext cx="12192000" cy="3479165"/>
          </a:xfrm>
          <a:prstGeom prst="rect">
            <a:avLst/>
          </a:prstGeom>
        </p:spPr>
      </p:pic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194435"/>
            <a:ext cx="5323840" cy="58229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194435"/>
            <a:ext cx="5323840" cy="582295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2000">
                <a:schemeClr val="bg2"/>
              </a:gs>
              <a:gs pos="100000">
                <a:schemeClr val="bg2">
                  <a:lumMod val="9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0" y="0"/>
            <a:ext cx="12192000" cy="348081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19302651">
            <a:off x="7729076" y="1574667"/>
            <a:ext cx="848646" cy="986854"/>
          </a:xfrm>
          <a:prstGeom prst="rect">
            <a:avLst/>
          </a:prstGeom>
        </p:spPr>
      </p:pic>
      <p:sp>
        <p:nvSpPr>
          <p:cNvPr id="9" name="椭圆 8"/>
          <p:cNvSpPr/>
          <p:nvPr userDrawn="1">
            <p:custDataLst>
              <p:tags r:id="rId7"/>
            </p:custDataLst>
          </p:nvPr>
        </p:nvSpPr>
        <p:spPr>
          <a:xfrm>
            <a:off x="7762308" y="1554409"/>
            <a:ext cx="3543758" cy="3543758"/>
          </a:xfrm>
          <a:prstGeom prst="ellipse">
            <a:avLst/>
          </a:prstGeom>
          <a:gradFill>
            <a:gsLst>
              <a:gs pos="77000">
                <a:schemeClr val="accent3">
                  <a:alpha val="0"/>
                </a:schemeClr>
              </a:gs>
              <a:gs pos="0">
                <a:schemeClr val="accent3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 userDrawn="1">
            <p:custDataLst>
              <p:tags r:id="rId8"/>
            </p:custDataLst>
          </p:nvPr>
        </p:nvCxnSpPr>
        <p:spPr>
          <a:xfrm flipV="1">
            <a:off x="1317625" y="854075"/>
            <a:ext cx="1651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9"/>
            </p:custDataLst>
          </p:nvPr>
        </p:nvCxnSpPr>
        <p:spPr>
          <a:xfrm flipV="1">
            <a:off x="1317625" y="803771"/>
            <a:ext cx="1651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10"/>
            </p:custDataLst>
          </p:nvPr>
        </p:nvCxnSpPr>
        <p:spPr>
          <a:xfrm flipV="1">
            <a:off x="1317625" y="753467"/>
            <a:ext cx="165100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/>
          <a:srcRect r="9252" b="11656"/>
          <a:stretch>
            <a:fillRect/>
          </a:stretch>
        </p:blipFill>
        <p:spPr>
          <a:xfrm>
            <a:off x="6803443" y="1554409"/>
            <a:ext cx="5388557" cy="5245792"/>
          </a:xfrm>
          <a:prstGeom prst="rect">
            <a:avLst/>
          </a:prstGeom>
        </p:spPr>
      </p:pic>
      <p:pic>
        <p:nvPicPr>
          <p:cNvPr id="8" name="图片 7" descr="图片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5433060"/>
            <a:ext cx="12192000" cy="142494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8"/>
            </p:custDataLst>
          </p:nvPr>
        </p:nvSpPr>
        <p:spPr>
          <a:xfrm>
            <a:off x="1273038" y="1341529"/>
            <a:ext cx="5257800" cy="2114471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9"/>
            </p:custDataLst>
          </p:nvPr>
        </p:nvSpPr>
        <p:spPr>
          <a:xfrm>
            <a:off x="1273038" y="3600000"/>
            <a:ext cx="5257800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4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0"/>
            </p:custDataLst>
          </p:nvPr>
        </p:nvSpPr>
        <p:spPr>
          <a:xfrm>
            <a:off x="1273038" y="4723225"/>
            <a:ext cx="2880000" cy="504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96330">
                <a:schemeClr val="accent3"/>
              </a:gs>
              <a:gs pos="27000">
                <a:schemeClr val="accent1"/>
              </a:gs>
            </a:gsLst>
            <a:lin ang="13500000" scaled="1"/>
            <a:tileRect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tags" Target="../tags/tag89.xml"/><Relationship Id="rId21" Type="http://schemas.openxmlformats.org/officeDocument/2006/relationships/tags" Target="../tags/tag88.xml"/><Relationship Id="rId20" Type="http://schemas.openxmlformats.org/officeDocument/2006/relationships/tags" Target="../tags/tag87.xml"/><Relationship Id="rId2" Type="http://schemas.openxmlformats.org/officeDocument/2006/relationships/slideLayout" Target="../slideLayouts/slideLayout13.xml"/><Relationship Id="rId19" Type="http://schemas.openxmlformats.org/officeDocument/2006/relationships/image" Target="../media/image10.png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image" Target="../media/image6.png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 rotWithShape="1">
          <a:blip r:embed="rId14"/>
          <a:srcRect t="21558" b="30014"/>
          <a:stretch>
            <a:fillRect/>
          </a:stretch>
        </p:blipFill>
        <p:spPr>
          <a:xfrm>
            <a:off x="10412913" y="320400"/>
            <a:ext cx="1464811" cy="720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0" y="0"/>
            <a:ext cx="12192000" cy="4773168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17830" y="1277620"/>
            <a:ext cx="8468995" cy="1800225"/>
          </a:xfrm>
        </p:spPr>
        <p:txBody>
          <a:bodyPr>
            <a:normAutofit fontScale="90000"/>
          </a:bodyPr>
          <a:p>
            <a:r>
              <a:rPr lang="zh-CN" altLang="en-US"/>
              <a:t>网络信息对青少年价值观的影响及引导策略调查研究</a:t>
            </a:r>
            <a:endParaRPr lang="zh-CN" altLang="en-US"/>
          </a:p>
        </p:txBody>
      </p:sp>
      <p:sp>
        <p:nvSpPr>
          <p:cNvPr id="14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/>
              <a:t>汇报人：</a:t>
            </a:r>
            <a:r>
              <a:rPr lang="en-US" altLang="zh-CN"/>
              <a:t>WPS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962150" y="1738630"/>
            <a:ext cx="5861685" cy="58483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effectLst/>
                <a:latin typeface="+mn-ea"/>
                <a:cs typeface="江城圆体 400W" panose="020B0500000000000000" pitchFamily="34" charset="-122"/>
              </a:rPr>
              <a:t>问题提出</a:t>
            </a: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62150" y="2450465"/>
            <a:ext cx="5861685" cy="58483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effectLst/>
                <a:latin typeface="+mn-ea"/>
                <a:cs typeface="江城圆体 400W" panose="020B0500000000000000" pitchFamily="34" charset="-122"/>
              </a:rPr>
              <a:t>调查方法与实施</a:t>
            </a: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62150" y="3162300"/>
            <a:ext cx="5861685" cy="58483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effectLst/>
                <a:latin typeface="+mn-ea"/>
                <a:cs typeface="江城圆体 400W" panose="020B0500000000000000" pitchFamily="34" charset="-122"/>
              </a:rPr>
              <a:t>调查结果展示</a:t>
            </a: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62150" y="3874135"/>
            <a:ext cx="5861685" cy="58483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effectLst/>
                <a:latin typeface="+mn-ea"/>
                <a:cs typeface="江城圆体 400W" panose="020B0500000000000000" pitchFamily="34" charset="-122"/>
              </a:rPr>
              <a:t>影响因素分析</a:t>
            </a: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62150" y="458565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effectLst/>
                <a:latin typeface="+mn-ea"/>
                <a:cs typeface="江城圆体 400W" panose="020B0500000000000000" pitchFamily="34" charset="-122"/>
              </a:rPr>
              <a:t>引导策略探讨</a:t>
            </a: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62150" y="517302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effectLst/>
                <a:latin typeface="+mn-ea"/>
                <a:cs typeface="江城圆体 400W" panose="020B0500000000000000" pitchFamily="34" charset="-122"/>
              </a:rPr>
              <a:t>总结</a:t>
            </a: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48000" y="123825"/>
            <a:ext cx="6096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40000"/>
              </a:lnSpc>
            </a:pPr>
            <a:r>
              <a:rPr lang="zh-CN" altLang="en-US" sz="6000" b="1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目录</a:t>
            </a:r>
            <a:endParaRPr lang="zh-CN" altLang="en-US" sz="6000" b="1">
              <a:solidFill>
                <a:schemeClr val="tx2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问题提出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阐述网络信息时代背景下青少年价值观受到广泛影响的现状，强调研究的必要性。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调查方法与实施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说明通过线上线下相结合的方式对青少年使用网络情况、受网络信息影响的程度和表现形式等进行调查的过程。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调查结果展示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呈现网络信息对青少年价值观在积极和消极方面的影响，如拓宽视野、激发创新意识与受到虚假信息、不良文化误导等，可列举具体案例和数据。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影响因素分析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从网络环境特点（信息爆炸、监管难度大等）、青少年自身心理发展特点（好奇心强、辨别能力弱等）、家庭和学校教育的缺失等角度分析原因。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引导策略探讨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提出政府加强网络监管、学校开展网络素养教育、家庭营造良好网络环境等多方面的引导策略。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总结通过此次调查对网络信息与青少年价值观关系的深化理解，提升分析和解决该社会问题的能力，倡导重视青少年网络价值观教育。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谢谢</a:t>
            </a:r>
            <a:r>
              <a:rPr lang="zh-CN" altLang="en-US"/>
              <a:t>观看</a:t>
            </a: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组</a:t>
            </a:r>
            <a:r>
              <a:rPr lang="zh-CN" altLang="en-US"/>
              <a:t>员：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0"/>
</p:tagLst>
</file>

<file path=ppt/tags/tag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2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4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7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</p:tagLst>
</file>

<file path=ppt/tags/tag8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0"/>
</p:tagLst>
</file>

<file path=ppt/tags/tag8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82"/>
</p:tagLst>
</file>

<file path=ppt/tags/tag8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982"/>
</p:tagLst>
</file>

<file path=ppt/tags/tag89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82"/>
  <p:tag name="KSO_WM_TEMPLATE_CATEGORY" val="custom"/>
  <p:tag name="KSO_WM_TEMPLATE_MASTER_TYPE" val="0"/>
</p:tagLst>
</file>

<file path=ppt/tags/tag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82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2"/>
  <p:tag name="KSO_WM_TEMPLATE_CATEGORY" val="custom"/>
  <p:tag name="KSO_WM_UNIT_ISCONTENTSTITLE" val="0"/>
  <p:tag name="KSO_WM_UNIT_VALUE" val="16"/>
  <p:tag name="KSO_WM_UNIT_PRESET_TEXT" val="单击此处&#10;添加文档标题"/>
  <p:tag name="KSO_WM_UNIT_TEXT_TYPE" val="1"/>
</p:tagLst>
</file>

<file path=ppt/tags/tag91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982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82"/>
  <p:tag name="KSO_WM_TEMPLATE_CATEGORY" val="custom"/>
  <p:tag name="KSO_WM_UNIT_VALUE" val="30"/>
</p:tagLst>
</file>

<file path=ppt/tags/tag92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82"/>
  <p:tag name="KSO_WM_TEMPLATE_CATEGORY" val="custom"/>
  <p:tag name="KSO_WM_SLIDE_INDEX" val="1"/>
  <p:tag name="KSO_WM_SLIDE_ID" val="custom20235982_1"/>
  <p:tag name="KSO_WM_TEMPLATE_MASTER_TYPE" val="0"/>
  <p:tag name="KSO_WM_SLIDE_LAYOUT" val="a_b_f"/>
  <p:tag name="KSO_WM_SLIDE_LAYOUT_CNT" val="1_1_1"/>
  <p:tag name="KSO_WM_SLIDE_THEME_ID" val="3331680"/>
  <p:tag name="KSO_WM_SLIDE_THEME_NAME" val="红色狮子教育教学党政风主题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5982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5982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35982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5982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35982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5982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5982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35982"/>
</p:tagLst>
</file>

<file path=ppt/tags/tag101.xml><?xml version="1.0" encoding="utf-8"?>
<p:tagLst xmlns:p="http://schemas.openxmlformats.org/presentationml/2006/main">
  <p:tag name="commondata" val="eyJoZGlkIjoiN2RiOGVhN2JiODhhZDhkMDBiZjNlZjhhM2Y5Yjc4MT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001-1">
      <a:dk1>
        <a:srgbClr val="333333"/>
      </a:dk1>
      <a:lt1>
        <a:srgbClr val="FFFFFF"/>
      </a:lt1>
      <a:dk2>
        <a:srgbClr val="3C0104"/>
      </a:dk2>
      <a:lt2>
        <a:srgbClr val="FFFCFB"/>
      </a:lt2>
      <a:accent1>
        <a:srgbClr val="F92F34"/>
      </a:accent1>
      <a:accent2>
        <a:srgbClr val="FF6948"/>
      </a:accent2>
      <a:accent3>
        <a:srgbClr val="FE9C69"/>
      </a:accent3>
      <a:accent4>
        <a:srgbClr val="FBD138"/>
      </a:accent4>
      <a:accent5>
        <a:srgbClr val="9DA7DC"/>
      </a:accent5>
      <a:accent6>
        <a:srgbClr val="65CBFF"/>
      </a:accent6>
      <a:hlink>
        <a:srgbClr val="304FFE"/>
      </a:hlink>
      <a:folHlink>
        <a:srgbClr val="492067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zh-CN" altLang="en-US"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WPS 演示</Application>
  <PresentationFormat>宽屏</PresentationFormat>
  <Paragraphs>51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江城圆体 400W</vt:lpstr>
      <vt:lpstr>Noto Sans SC</vt:lpstr>
      <vt:lpstr>Segoe Print</vt:lpstr>
      <vt:lpstr>WPS</vt:lpstr>
      <vt:lpstr>1_Office 主题​​</vt:lpstr>
      <vt:lpstr>单击此处 添加文档标题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施乔</cp:lastModifiedBy>
  <cp:revision>3</cp:revision>
  <dcterms:created xsi:type="dcterms:W3CDTF">2023-08-09T12:44:00Z</dcterms:created>
  <dcterms:modified xsi:type="dcterms:W3CDTF">2024-10-27T11:20:02Z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2052-12.1.0.18608</vt:lpwstr>
  </property>
</Properties>
</file>