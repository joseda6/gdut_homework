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42"/>
  </p:handoutMasterIdLst>
  <p:sldIdLst>
    <p:sldId id="257" r:id="rId4"/>
    <p:sldId id="260" r:id="rId6"/>
    <p:sldId id="261" r:id="rId7"/>
    <p:sldId id="263" r:id="rId8"/>
    <p:sldId id="265" r:id="rId9"/>
    <p:sldId id="268" r:id="rId10"/>
    <p:sldId id="269" r:id="rId11"/>
    <p:sldId id="270" r:id="rId12"/>
    <p:sldId id="272" r:id="rId13"/>
    <p:sldId id="274" r:id="rId14"/>
    <p:sldId id="275" r:id="rId15"/>
    <p:sldId id="277" r:id="rId16"/>
    <p:sldId id="278" r:id="rId17"/>
    <p:sldId id="279" r:id="rId18"/>
    <p:sldId id="281" r:id="rId19"/>
    <p:sldId id="282" r:id="rId20"/>
    <p:sldId id="284" r:id="rId21"/>
    <p:sldId id="287" r:id="rId22"/>
    <p:sldId id="288" r:id="rId23"/>
    <p:sldId id="289" r:id="rId24"/>
    <p:sldId id="291" r:id="rId25"/>
    <p:sldId id="292" r:id="rId26"/>
    <p:sldId id="293" r:id="rId27"/>
    <p:sldId id="296" r:id="rId28"/>
    <p:sldId id="297" r:id="rId29"/>
    <p:sldId id="298" r:id="rId30"/>
    <p:sldId id="300" r:id="rId31"/>
    <p:sldId id="301" r:id="rId32"/>
    <p:sldId id="305" r:id="rId33"/>
    <p:sldId id="306" r:id="rId34"/>
    <p:sldId id="308" r:id="rId35"/>
    <p:sldId id="310" r:id="rId36"/>
    <p:sldId id="312" r:id="rId37"/>
    <p:sldId id="313" r:id="rId38"/>
    <p:sldId id="315" r:id="rId39"/>
    <p:sldId id="317" r:id="rId40"/>
    <p:sldId id="319" r:id="rId41"/>
  </p:sldIdLst>
  <p:sldSz cx="12192000" cy="6858000"/>
  <p:notesSz cx="7103745" cy="10234295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7" Type="http://schemas.openxmlformats.org/officeDocument/2006/relationships/tags" Target="tags/tag397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628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4522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8383" y="15240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3810" y="590550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193040"/>
            <a:ext cx="11037570" cy="521335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5" Type="http://schemas.openxmlformats.org/officeDocument/2006/relationships/theme" Target="../theme/theme2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23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2" Type="http://schemas.openxmlformats.org/officeDocument/2006/relationships/slideLayout" Target="../slideLayouts/slideLayout17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148.xml"/><Relationship Id="rId6" Type="http://schemas.openxmlformats.org/officeDocument/2006/relationships/image" Target="../media/image1.emf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61.xml"/><Relationship Id="rId7" Type="http://schemas.openxmlformats.org/officeDocument/2006/relationships/image" Target="../media/image2.emf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68.xml"/><Relationship Id="rId7" Type="http://schemas.openxmlformats.org/officeDocument/2006/relationships/image" Target="../media/image3.emf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image" Target="../media/image4.png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16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83.xml"/><Relationship Id="rId7" Type="http://schemas.openxmlformats.org/officeDocument/2006/relationships/image" Target="../media/image5.emf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90.xml"/><Relationship Id="rId7" Type="http://schemas.openxmlformats.org/officeDocument/2006/relationships/image" Target="../media/image6.emf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3" Type="http://schemas.openxmlformats.org/officeDocument/2006/relationships/slideLayout" Target="../slideLayouts/slideLayout17.xml"/><Relationship Id="rId12" Type="http://schemas.openxmlformats.org/officeDocument/2006/relationships/tags" Target="../tags/tag201.xml"/><Relationship Id="rId11" Type="http://schemas.openxmlformats.org/officeDocument/2006/relationships/image" Target="../media/image7.emf"/><Relationship Id="rId10" Type="http://schemas.openxmlformats.org/officeDocument/2006/relationships/tags" Target="../tags/tag200.xml"/><Relationship Id="rId1" Type="http://schemas.openxmlformats.org/officeDocument/2006/relationships/tags" Target="../tags/tag19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emf"/><Relationship Id="rId8" Type="http://schemas.openxmlformats.org/officeDocument/2006/relationships/image" Target="../media/image9.emf"/><Relationship Id="rId7" Type="http://schemas.openxmlformats.org/officeDocument/2006/relationships/image" Target="../media/image8.emf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208.xml"/><Relationship Id="rId1" Type="http://schemas.openxmlformats.org/officeDocument/2006/relationships/tags" Target="../tags/tag20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image" Target="../media/image11.png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4" Type="http://schemas.openxmlformats.org/officeDocument/2006/relationships/slideLayout" Target="../slideLayouts/slideLayout17.xml"/><Relationship Id="rId23" Type="http://schemas.openxmlformats.org/officeDocument/2006/relationships/tags" Target="../tags/tag230.xml"/><Relationship Id="rId22" Type="http://schemas.openxmlformats.org/officeDocument/2006/relationships/tags" Target="../tags/tag229.xml"/><Relationship Id="rId21" Type="http://schemas.openxmlformats.org/officeDocument/2006/relationships/tags" Target="../tags/tag228.xml"/><Relationship Id="rId20" Type="http://schemas.openxmlformats.org/officeDocument/2006/relationships/tags" Target="../tags/tag227.xml"/><Relationship Id="rId2" Type="http://schemas.openxmlformats.org/officeDocument/2006/relationships/tags" Target="../tags/tag210.xml"/><Relationship Id="rId19" Type="http://schemas.openxmlformats.org/officeDocument/2006/relationships/tags" Target="../tags/tag226.xml"/><Relationship Id="rId18" Type="http://schemas.openxmlformats.org/officeDocument/2006/relationships/tags" Target="../tags/tag225.xml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tags" Target="../tags/tag20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237.xml"/><Relationship Id="rId7" Type="http://schemas.openxmlformats.org/officeDocument/2006/relationships/image" Target="../media/image12.emf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244.xml"/><Relationship Id="rId7" Type="http://schemas.openxmlformats.org/officeDocument/2006/relationships/image" Target="../media/image13.emf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image" Target="../media/image15.emf"/><Relationship Id="rId7" Type="http://schemas.openxmlformats.org/officeDocument/2006/relationships/image" Target="../media/image14.emf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24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image" Target="../media/image16.png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260.xml"/><Relationship Id="rId1" Type="http://schemas.openxmlformats.org/officeDocument/2006/relationships/tags" Target="../tags/tag25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emf"/><Relationship Id="rId8" Type="http://schemas.openxmlformats.org/officeDocument/2006/relationships/image" Target="../media/image18.emf"/><Relationship Id="rId7" Type="http://schemas.openxmlformats.org/officeDocument/2006/relationships/image" Target="../media/image17.emf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267.xml"/><Relationship Id="rId1" Type="http://schemas.openxmlformats.org/officeDocument/2006/relationships/tags" Target="../tags/tag26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image" Target="../media/image20.png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26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288.xml"/><Relationship Id="rId7" Type="http://schemas.openxmlformats.org/officeDocument/2006/relationships/image" Target="../media/image21.emf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295.xml"/><Relationship Id="rId7" Type="http://schemas.openxmlformats.org/officeDocument/2006/relationships/image" Target="../media/image22.emf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image" Target="../media/image23.emf"/><Relationship Id="rId7" Type="http://schemas.openxmlformats.org/officeDocument/2006/relationships/tags" Target="../tags/tag302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29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10.xml"/><Relationship Id="rId7" Type="http://schemas.openxmlformats.org/officeDocument/2006/relationships/image" Target="../media/image24.emf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tags" Target="../tags/tag304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16.xml"/><Relationship Id="rId5" Type="http://schemas.openxmlformats.org/officeDocument/2006/relationships/tags" Target="../tags/tag315.xml"/><Relationship Id="rId4" Type="http://schemas.openxmlformats.org/officeDocument/2006/relationships/tags" Target="../tags/tag314.xml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tags" Target="../tags/tag31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tags" Target="../tags/tag31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30.xml"/><Relationship Id="rId7" Type="http://schemas.openxmlformats.org/officeDocument/2006/relationships/image" Target="../media/image25.emf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tags" Target="../tags/tag324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5.xml"/><Relationship Id="rId5" Type="http://schemas.openxmlformats.org/officeDocument/2006/relationships/image" Target="../media/image26.emf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tags" Target="../tags/tag33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41.xml"/><Relationship Id="rId6" Type="http://schemas.openxmlformats.org/officeDocument/2006/relationships/image" Target="../media/image27.emf"/><Relationship Id="rId5" Type="http://schemas.openxmlformats.org/officeDocument/2006/relationships/tags" Target="../tags/tag340.xml"/><Relationship Id="rId4" Type="http://schemas.openxmlformats.org/officeDocument/2006/relationships/tags" Target="../tags/tag339.xml"/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" Type="http://schemas.openxmlformats.org/officeDocument/2006/relationships/tags" Target="../tags/tag336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tags" Target="../tags/tag342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53.xml"/><Relationship Id="rId7" Type="http://schemas.openxmlformats.org/officeDocument/2006/relationships/image" Target="../media/image29.emf"/><Relationship Id="rId6" Type="http://schemas.openxmlformats.org/officeDocument/2006/relationships/image" Target="../media/image28.emf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tags" Target="../tags/tag348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60.xml"/><Relationship Id="rId8" Type="http://schemas.openxmlformats.org/officeDocument/2006/relationships/image" Target="../media/image31.emf"/><Relationship Id="rId7" Type="http://schemas.openxmlformats.org/officeDocument/2006/relationships/image" Target="../media/image30.emf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54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61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73.xml"/><Relationship Id="rId5" Type="http://schemas.openxmlformats.org/officeDocument/2006/relationships/tags" Target="../tags/tag372.xml"/><Relationship Id="rId4" Type="http://schemas.openxmlformats.org/officeDocument/2006/relationships/tags" Target="../tags/tag371.xml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80.xml"/><Relationship Id="rId7" Type="http://schemas.openxmlformats.org/officeDocument/2006/relationships/image" Target="../media/image34.png"/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tags" Target="../tags/tag37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87.xml"/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94.xml"/><Relationship Id="rId7" Type="http://schemas.openxmlformats.org/officeDocument/2006/relationships/image" Target="../media/image35.png"/><Relationship Id="rId6" Type="http://schemas.openxmlformats.org/officeDocument/2006/relationships/tags" Target="../tags/tag393.xml"/><Relationship Id="rId5" Type="http://schemas.openxmlformats.org/officeDocument/2006/relationships/tags" Target="../tags/tag392.xml"/><Relationship Id="rId4" Type="http://schemas.openxmlformats.org/officeDocument/2006/relationships/tags" Target="../tags/tag391.xml"/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" Type="http://schemas.openxmlformats.org/officeDocument/2006/relationships/tags" Target="../tags/tag38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第 8 章</a:t>
            </a:r>
            <a:endParaRPr lang="zh-CN" altLang="en-US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演讲人</a:t>
            </a:r>
            <a:endParaRPr lang="zh-CN" altLang="en-US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 8 章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1626212" y="1496376"/>
            <a:ext cx="8915978" cy="477913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6"/>
          <p:cNvSpPr txBox="1"/>
          <p:nvPr>
            <p:custDataLst>
              <p:tags r:id="rId10"/>
            </p:custDataLst>
          </p:nvPr>
        </p:nvSpPr>
        <p:spPr>
          <a:xfrm>
            <a:off x="1892883" y="1731304"/>
            <a:ext cx="8382634" cy="430927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◄ 操纵数据表的数据 ►
在数据库中，数据是数据库的中心，数据的操作主要有4种，即插入、更新、删除和查询。在数据操作中，查询是数据库最常使用的。在SQL Server中，通过使用SELECT语句就可以从数据库中按照要求查询数据，并将结果以表格的形式输出。在使用SELECT语句查询数据时，还可以格式化结果集，包括排序、分组和统计。查询并不改变数据库中的数据，如果要改变数据库中的数据，就要使用插入、更新和删除这些操作，其基本语句分别是INSERT、UPDATE和DELETE，分别实现向数据库的表中插入数据、更新数据和删除数据。
本章将详细讲述数据库中的数据操作，包括查询数据、插入数据、更新数据和删除数据。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11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标准查询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1413510" y="1479550"/>
            <a:ext cx="9364980" cy="302069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就是根据给定的条件从一个或多个表中查找数据。就像要找出某个地区某个小学的一个班，就要先找到这个地区，再根据小学的名称和班级的名称找到这个班。查询数据就是根据表中列的名称查出这个列的数据，查询的结果以列表的形式返回。
在SQL Server数据库系统中，我们可以通过单击程序主界面左上角的【新建查询】按钮创建查询窗口，然后在查询窗口中输入SELECT语句，最后单击【执行】按钮来查询结果，如图8-1所示。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0815" y="4084955"/>
            <a:ext cx="5495290" cy="17354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73755" y="59848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图8-1  查询过程示意图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标准查询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1.1 SELECT语句的语法格式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7200" y="1536700"/>
            <a:ext cx="1127823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SELECT语句是查询表达式，它以关键字SELECT开头，并且包含大量构成表达式的元素。SELECT语句的语法格式如下：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[ALL | DISTINCT] select_list</a:t>
            </a:r>
            <a:endParaRPr lang="zh-CN" altLang="en-US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FROM table_name</a:t>
            </a:r>
            <a:endParaRPr lang="zh-CN" altLang="en-US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[WHERE &lt;search_condition&gt;]</a:t>
            </a:r>
            <a:endParaRPr lang="zh-CN" altLang="en-US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[GROUP BY &lt;group_by_expression&gt;]</a:t>
            </a:r>
            <a:endParaRPr lang="zh-CN" altLang="en-US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[HAVING &lt;search_condition&gt;]</a:t>
            </a:r>
            <a:endParaRPr lang="zh-CN" altLang="en-US" sz="16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[ORDER BY &lt;order_expression&gt;[ASC | DESC]]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在上面的语句中，[]内的子句表示可选项。对各个关键字的说明如下。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SELECT子句：用来指定需要查询的列的列名。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ALL| DISTINCT：指定在查询结果中对相同行的处理方式。其中，ALL表示返回查询结果集的所有行，DISTINCT表示若查询结果中有相同行，则只显示一行。默认值为ALL。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FROM子句：用来指定需要查询的表名。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WHERE子句：用来指定查询的限定条件。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GROUP BY子句：用来指定查询结果的分组条件。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HAVING子句：与GROUP BY子句结合使用，用来指定查询的搜索条件，与WHERE子句类似但不相同。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ORDER BY子句：用来指定查询结果的排序方式。其中，ASC表示升序排序，DESC表示降序排序。默认升序排序。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标准查询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1.2 获取若干列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200" y="1384300"/>
            <a:ext cx="11277600" cy="53524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SELECT子句用于指出所要查询的目标列。目标列可以是直接从数据源中投影得到的字段、与字段相关的表达式或数据统计的函数表达式，还可以是常量。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1.查询指定列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当对指定列进行查询时，只需将SELECT子句输入相应的列名，这样就可以把指定的列值从数据库表中检索出来了。如果目标列不止一列，就需要用“,”隔开。其语法格式如下：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列名1[,列名2,列名3,...]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表名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【例8.1】从数据库stusystem的Student表中查询列Sno、Sname和Ssex，可以使用下面的SELECT语句：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Sno,Sname,Ssex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查询结果如图8-2所示。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8905" y="5346065"/>
            <a:ext cx="1457325" cy="13906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标准查询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en-US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</a:t>
            </a:r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指定列别名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itle 6"/>
          <p:cNvSpPr txBox="1"/>
          <p:nvPr>
            <p:custDataLst>
              <p:tags r:id="rId6"/>
            </p:custDataLst>
          </p:nvPr>
        </p:nvSpPr>
        <p:spPr>
          <a:xfrm>
            <a:off x="457200" y="1384300"/>
            <a:ext cx="11277600" cy="454215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在SELECT语句中，还可以为目标列指定别名，语法格式如下：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字段名 AS 为列指定的别名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FROM表名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【例8.2】从数据库stusystem的Student表中查询列Sno、Sname和Ssex，并为每一列指定别名，语句如下：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Sno AS 学号,Sname AS 姓名,Ssex AS 性别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查询结果如图8-3所示。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2130" y="4852670"/>
            <a:ext cx="1485900" cy="14478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标准查询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1.3 获取所有列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" name="图片 3" descr="/data/temp/42c31d67-17f0-11ee-86bd-a2d6284a62e3.jpg42c31d67-17f0-11ee-86bd-a2d6284a62e3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3081746" y="4403370"/>
            <a:ext cx="1895322" cy="13824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0" h="2160">
                <a:moveTo>
                  <a:pt x="0" y="0"/>
                </a:moveTo>
                <a:lnTo>
                  <a:pt x="4320" y="0"/>
                </a:lnTo>
                <a:lnTo>
                  <a:pt x="4320" y="2160"/>
                </a:lnTo>
                <a:lnTo>
                  <a:pt x="0" y="2160"/>
                </a:lnTo>
                <a:close/>
              </a:path>
            </a:pathLst>
          </a:custGeom>
        </p:spPr>
      </p:pic>
      <p:sp>
        <p:nvSpPr>
          <p:cNvPr id="5" name="Title 6"/>
          <p:cNvSpPr txBox="1"/>
          <p:nvPr>
            <p:custDataLst>
              <p:tags r:id="rId8"/>
            </p:custDataLst>
          </p:nvPr>
        </p:nvSpPr>
        <p:spPr>
          <a:xfrm>
            <a:off x="458470" y="1536700"/>
            <a:ext cx="11276330" cy="44005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使用SELECT *或SELECTtable_name.*获取所有列，并且输出顺序与表中的顺序相同。其语法格式如下：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*FROM table_name 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或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table_name.* FROM table_name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【例8.3】查询数据库stusystem中Student表所有列的信息，语句如下：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查询结果如图8-4所示。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9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标准查询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1.4 使用DISTINCT关键字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itle 6"/>
          <p:cNvSpPr txBox="1"/>
          <p:nvPr>
            <p:custDataLst>
              <p:tags r:id="rId6"/>
            </p:custDataLst>
          </p:nvPr>
        </p:nvSpPr>
        <p:spPr>
          <a:xfrm>
            <a:off x="457200" y="1384300"/>
            <a:ext cx="11278870" cy="44005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在使用SELECT查询语句时，如果想对重复行只保留并显示一行，就可以使用DISTINCT关键字消除重复行。其语法格式如下：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DISTINCT 字段名1[,字段名2,字段名3,...]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表名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【例8.4】在Student数据库表中插入一条重复的数据。例如，再插入一条姓名为李玲的学生信息，然后从数据库stusystem的Student表中查询列Sname和Sage，使用DISTINCT关键字删除重复的行，语句如下：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DISTINCT Sname,Sage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查询结果如图8-5所示。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850" y="4947920"/>
            <a:ext cx="1163320" cy="181673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标准查询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1.5 使用TOP关键字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Title 6"/>
          <p:cNvSpPr txBox="1"/>
          <p:nvPr>
            <p:custDataLst>
              <p:tags r:id="rId6"/>
            </p:custDataLst>
          </p:nvPr>
        </p:nvSpPr>
        <p:spPr>
          <a:xfrm>
            <a:off x="456565" y="1452880"/>
            <a:ext cx="11278235" cy="287909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 fontScale="6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在查询信息时，如果需要表中的前n行数据，我们就可以选择使用SELECT语句中的TOP关键字完成操作。注意，使用TOP关键字返回的结果一定是表中从上往下的n行数据。其语法格式如下：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[TOP n] [字段名|*]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表名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【例8.5】从数据库stusystem的Student表中查询列Sno、Sname、Ssex和Sage，使用TOP关键字返回前两行记录，语句如下：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TOP 2 Sno,Sname,Ssex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查询结果如图8-6所示。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060" y="3938905"/>
            <a:ext cx="1809750" cy="6667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1626212" y="1496376"/>
            <a:ext cx="8915978" cy="477913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6"/>
          <p:cNvSpPr txBox="1"/>
          <p:nvPr>
            <p:custDataLst>
              <p:tags r:id="rId10"/>
            </p:custDataLst>
          </p:nvPr>
        </p:nvSpPr>
        <p:spPr>
          <a:xfrm>
            <a:off x="1892883" y="1977452"/>
            <a:ext cx="8382634" cy="381698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在查询数据时，有时用户只需要根据条件查询表中的部分数据而不是全部数据。此时，可以在SELECT语句中使用条件查询子句（WHERE子句）进行查询，从而根据条件返回符合条件的结果集，语法格式如下：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
在上面的语法格式中，查询返回的行需要满足查询的条件，即返回结果集中的行都满足查询条件，不满足条件的行不会返回。在SELECT语句中的WHERE子句中可以使用的条件有很多，如比较运算符、逻辑运算符和列表运算符等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4725" y="3557270"/>
            <a:ext cx="6743700" cy="65722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使用比较运算符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itle 6"/>
          <p:cNvSpPr txBox="1"/>
          <p:nvPr>
            <p:custDataLst>
              <p:tags r:id="rId6"/>
            </p:custDataLst>
          </p:nvPr>
        </p:nvSpPr>
        <p:spPr>
          <a:xfrm>
            <a:off x="456565" y="1384300"/>
            <a:ext cx="11278235" cy="532257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2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子句的运算符主要有=、&lt;、&gt;、&gt;=、&lt;=、&lt;&gt;和!=，使用这些比较运算符可以对查询条件进行限定。注意，如果连接的数据类型不是数字，就要用单引号把比较运算符后面的数据引起来，并且运算符两边表达式的数据类型必须保持一致。表8-1列出了比较运算符及其含义。
表8-1 比较运算符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参与比较运算的表达式，比较运算符和WHERE相结合，语法如下：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【例8.6】查询Student表中年龄大于19岁的学生的信息，语句如下：
查询结果如图8-7所示。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 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Sage&gt;19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0485" y="2403475"/>
            <a:ext cx="6743700" cy="13430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2700" y="4190365"/>
            <a:ext cx="6600825" cy="3524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1515" y="5480050"/>
            <a:ext cx="2162175" cy="112395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使用逻辑运算符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 rot="19800000">
            <a:off x="2063939" y="2531019"/>
            <a:ext cx="900200" cy="552979"/>
          </a:xfrm>
          <a:custGeom>
            <a:avLst/>
            <a:gdLst>
              <a:gd name="connsiteX0" fmla="*/ 444500 w 889000"/>
              <a:gd name="connsiteY0" fmla="*/ 0 h 546100"/>
              <a:gd name="connsiteX1" fmla="*/ 889000 w 889000"/>
              <a:gd name="connsiteY1" fmla="*/ 444500 h 546100"/>
              <a:gd name="connsiteX2" fmla="*/ 879969 w 889000"/>
              <a:gd name="connsiteY2" fmla="*/ 534082 h 546100"/>
              <a:gd name="connsiteX3" fmla="*/ 876239 w 889000"/>
              <a:gd name="connsiteY3" fmla="*/ 546100 h 546100"/>
              <a:gd name="connsiteX4" fmla="*/ 12761 w 889000"/>
              <a:gd name="connsiteY4" fmla="*/ 546100 h 546100"/>
              <a:gd name="connsiteX5" fmla="*/ 9031 w 889000"/>
              <a:gd name="connsiteY5" fmla="*/ 534082 h 546100"/>
              <a:gd name="connsiteX6" fmla="*/ 0 w 889000"/>
              <a:gd name="connsiteY6" fmla="*/ 444500 h 546100"/>
              <a:gd name="connsiteX7" fmla="*/ 444500 w 889000"/>
              <a:gd name="connsiteY7" fmla="*/ 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000" h="546100">
                <a:moveTo>
                  <a:pt x="444500" y="0"/>
                </a:moveTo>
                <a:cubicBezTo>
                  <a:pt x="689991" y="0"/>
                  <a:pt x="889000" y="199009"/>
                  <a:pt x="889000" y="444500"/>
                </a:cubicBezTo>
                <a:cubicBezTo>
                  <a:pt x="889000" y="475186"/>
                  <a:pt x="885891" y="505147"/>
                  <a:pt x="879969" y="534082"/>
                </a:cubicBezTo>
                <a:lnTo>
                  <a:pt x="876239" y="546100"/>
                </a:lnTo>
                <a:lnTo>
                  <a:pt x="12761" y="546100"/>
                </a:lnTo>
                <a:lnTo>
                  <a:pt x="9031" y="534082"/>
                </a:lnTo>
                <a:cubicBezTo>
                  <a:pt x="3110" y="505147"/>
                  <a:pt x="0" y="475186"/>
                  <a:pt x="0" y="444500"/>
                </a:cubicBezTo>
                <a:cubicBezTo>
                  <a:pt x="0" y="199009"/>
                  <a:pt x="199009" y="0"/>
                  <a:pt x="4445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endParaRPr lang="zh-CN" altLang="en-US" sz="2400" b="1" spc="150" dirty="0" err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 rot="14400000" flipV="1">
            <a:off x="2605739" y="2473278"/>
            <a:ext cx="62059" cy="1093606"/>
          </a:xfrm>
          <a:custGeom>
            <a:avLst/>
            <a:gdLst>
              <a:gd name="connsiteX0" fmla="*/ 0 w 4806245"/>
              <a:gd name="connsiteY0" fmla="*/ 0 h 9705673"/>
              <a:gd name="connsiteX1" fmla="*/ 4806245 w 4806245"/>
              <a:gd name="connsiteY1" fmla="*/ 0 h 9705673"/>
              <a:gd name="connsiteX2" fmla="*/ 4806245 w 4806245"/>
              <a:gd name="connsiteY2" fmla="*/ 9705673 h 9705673"/>
              <a:gd name="connsiteX3" fmla="*/ 0 w 4806245"/>
              <a:gd name="connsiteY3" fmla="*/ 9705673 h 970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6245" h="9705673">
                <a:moveTo>
                  <a:pt x="0" y="0"/>
                </a:moveTo>
                <a:lnTo>
                  <a:pt x="4806245" y="0"/>
                </a:lnTo>
                <a:lnTo>
                  <a:pt x="4806245" y="9705673"/>
                </a:lnTo>
                <a:lnTo>
                  <a:pt x="0" y="9705673"/>
                </a:lnTo>
                <a:close/>
              </a:path>
            </a:pathLst>
          </a:custGeom>
        </p:spPr>
      </p:pic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 rot="19800000">
            <a:off x="2266116" y="2590864"/>
            <a:ext cx="495845" cy="433289"/>
          </a:xfrm>
          <a:prstGeom prst="rect">
            <a:avLst/>
          </a:prstGeom>
        </p:spPr>
        <p:txBody>
          <a:bodyPr wrap="square">
            <a:normAutofit fontScale="70000"/>
          </a:bodyPr>
          <a:p>
            <a:pPr algn="ctr">
              <a:lnSpc>
                <a:spcPct val="120000"/>
              </a:lnSpc>
            </a:pPr>
            <a:r>
              <a:rPr lang="en-US" altLang="zh-CN" sz="2400" b="1" spc="1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2400" b="1" spc="1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10"/>
            </p:custDataLst>
          </p:nvPr>
        </p:nvSpPr>
        <p:spPr>
          <a:xfrm rot="19800000">
            <a:off x="6340017" y="2531019"/>
            <a:ext cx="900200" cy="552979"/>
          </a:xfrm>
          <a:custGeom>
            <a:avLst/>
            <a:gdLst>
              <a:gd name="connsiteX0" fmla="*/ 444500 w 889000"/>
              <a:gd name="connsiteY0" fmla="*/ 0 h 546100"/>
              <a:gd name="connsiteX1" fmla="*/ 889000 w 889000"/>
              <a:gd name="connsiteY1" fmla="*/ 444500 h 546100"/>
              <a:gd name="connsiteX2" fmla="*/ 879969 w 889000"/>
              <a:gd name="connsiteY2" fmla="*/ 534082 h 546100"/>
              <a:gd name="connsiteX3" fmla="*/ 876239 w 889000"/>
              <a:gd name="connsiteY3" fmla="*/ 546100 h 546100"/>
              <a:gd name="connsiteX4" fmla="*/ 12761 w 889000"/>
              <a:gd name="connsiteY4" fmla="*/ 546100 h 546100"/>
              <a:gd name="connsiteX5" fmla="*/ 9031 w 889000"/>
              <a:gd name="connsiteY5" fmla="*/ 534082 h 546100"/>
              <a:gd name="connsiteX6" fmla="*/ 0 w 889000"/>
              <a:gd name="connsiteY6" fmla="*/ 444500 h 546100"/>
              <a:gd name="connsiteX7" fmla="*/ 444500 w 889000"/>
              <a:gd name="connsiteY7" fmla="*/ 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000" h="546100">
                <a:moveTo>
                  <a:pt x="444500" y="0"/>
                </a:moveTo>
                <a:cubicBezTo>
                  <a:pt x="689991" y="0"/>
                  <a:pt x="889000" y="199009"/>
                  <a:pt x="889000" y="444500"/>
                </a:cubicBezTo>
                <a:cubicBezTo>
                  <a:pt x="889000" y="475186"/>
                  <a:pt x="885891" y="505147"/>
                  <a:pt x="879969" y="534082"/>
                </a:cubicBezTo>
                <a:lnTo>
                  <a:pt x="876239" y="546100"/>
                </a:lnTo>
                <a:lnTo>
                  <a:pt x="12761" y="546100"/>
                </a:lnTo>
                <a:lnTo>
                  <a:pt x="9031" y="534082"/>
                </a:lnTo>
                <a:cubicBezTo>
                  <a:pt x="3110" y="505147"/>
                  <a:pt x="0" y="475186"/>
                  <a:pt x="0" y="444500"/>
                </a:cubicBezTo>
                <a:cubicBezTo>
                  <a:pt x="0" y="199009"/>
                  <a:pt x="199009" y="0"/>
                  <a:pt x="4445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endParaRPr lang="zh-CN" altLang="en-US" sz="2400" b="1" spc="150" dirty="0" err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 rot="14400000" flipV="1">
            <a:off x="6881817" y="2473278"/>
            <a:ext cx="62059" cy="1093606"/>
          </a:xfrm>
          <a:custGeom>
            <a:avLst/>
            <a:gdLst>
              <a:gd name="connsiteX0" fmla="*/ 0 w 4806245"/>
              <a:gd name="connsiteY0" fmla="*/ 0 h 9705673"/>
              <a:gd name="connsiteX1" fmla="*/ 4806245 w 4806245"/>
              <a:gd name="connsiteY1" fmla="*/ 0 h 9705673"/>
              <a:gd name="connsiteX2" fmla="*/ 4806245 w 4806245"/>
              <a:gd name="connsiteY2" fmla="*/ 9705673 h 9705673"/>
              <a:gd name="connsiteX3" fmla="*/ 0 w 4806245"/>
              <a:gd name="connsiteY3" fmla="*/ 9705673 h 970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6245" h="9705673">
                <a:moveTo>
                  <a:pt x="0" y="0"/>
                </a:moveTo>
                <a:lnTo>
                  <a:pt x="4806245" y="0"/>
                </a:lnTo>
                <a:lnTo>
                  <a:pt x="4806245" y="9705673"/>
                </a:lnTo>
                <a:lnTo>
                  <a:pt x="0" y="9705673"/>
                </a:lnTo>
                <a:close/>
              </a:path>
            </a:pathLst>
          </a:custGeom>
        </p:spPr>
      </p:pic>
      <p:sp>
        <p:nvSpPr>
          <p:cNvPr id="9" name="矩形 8"/>
          <p:cNvSpPr/>
          <p:nvPr>
            <p:custDataLst>
              <p:tags r:id="rId12"/>
            </p:custDataLst>
          </p:nvPr>
        </p:nvSpPr>
        <p:spPr>
          <a:xfrm>
            <a:off x="3125815" y="2719562"/>
            <a:ext cx="2745372" cy="1419812"/>
          </a:xfrm>
          <a:prstGeom prst="rect">
            <a:avLst/>
          </a:prstGeom>
        </p:spPr>
        <p:txBody>
          <a:bodyPr wrap="square" anchor="t" anchorCtr="0">
            <a:normAutofit fontScale="80000"/>
          </a:bodyPr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kern="0" spc="150" dirty="0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Arial" panose="020B0604020202020204" pitchFamily="34" charset="0"/>
              </a:rPr>
              <a:t>AND：与，用于合并简单条件和包括NOT的条件，并且只有当所有条件都为真时才返回结果集。如果使用一个以上的AND条件，这些条件就可以以任意顺序合并在一起，不需要括号。</a:t>
            </a:r>
            <a:endParaRPr lang="zh-CN" altLang="en-US" sz="1400" kern="0" spc="150" dirty="0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 rot="19800000">
            <a:off x="6542194" y="2590864"/>
            <a:ext cx="495845" cy="433289"/>
          </a:xfrm>
          <a:prstGeom prst="rect">
            <a:avLst/>
          </a:prstGeom>
        </p:spPr>
        <p:txBody>
          <a:bodyPr wrap="square">
            <a:normAutofit fontScale="70000"/>
          </a:bodyPr>
          <a:p>
            <a:pPr algn="ctr">
              <a:lnSpc>
                <a:spcPct val="120000"/>
              </a:lnSpc>
            </a:pPr>
            <a:r>
              <a:rPr lang="en-US" altLang="zh-CN" sz="2400" b="1" spc="1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400" b="1" spc="1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>
            <p:custDataLst>
              <p:tags r:id="rId14"/>
            </p:custDataLst>
          </p:nvPr>
        </p:nvSpPr>
        <p:spPr>
          <a:xfrm rot="19800000">
            <a:off x="2063939" y="4908824"/>
            <a:ext cx="900200" cy="552979"/>
          </a:xfrm>
          <a:custGeom>
            <a:avLst/>
            <a:gdLst>
              <a:gd name="connsiteX0" fmla="*/ 444500 w 889000"/>
              <a:gd name="connsiteY0" fmla="*/ 0 h 546100"/>
              <a:gd name="connsiteX1" fmla="*/ 889000 w 889000"/>
              <a:gd name="connsiteY1" fmla="*/ 444500 h 546100"/>
              <a:gd name="connsiteX2" fmla="*/ 879969 w 889000"/>
              <a:gd name="connsiteY2" fmla="*/ 534082 h 546100"/>
              <a:gd name="connsiteX3" fmla="*/ 876239 w 889000"/>
              <a:gd name="connsiteY3" fmla="*/ 546100 h 546100"/>
              <a:gd name="connsiteX4" fmla="*/ 12761 w 889000"/>
              <a:gd name="connsiteY4" fmla="*/ 546100 h 546100"/>
              <a:gd name="connsiteX5" fmla="*/ 9031 w 889000"/>
              <a:gd name="connsiteY5" fmla="*/ 534082 h 546100"/>
              <a:gd name="connsiteX6" fmla="*/ 0 w 889000"/>
              <a:gd name="connsiteY6" fmla="*/ 444500 h 546100"/>
              <a:gd name="connsiteX7" fmla="*/ 444500 w 889000"/>
              <a:gd name="connsiteY7" fmla="*/ 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000" h="546100">
                <a:moveTo>
                  <a:pt x="444500" y="0"/>
                </a:moveTo>
                <a:cubicBezTo>
                  <a:pt x="689991" y="0"/>
                  <a:pt x="889000" y="199009"/>
                  <a:pt x="889000" y="444500"/>
                </a:cubicBezTo>
                <a:cubicBezTo>
                  <a:pt x="889000" y="475186"/>
                  <a:pt x="885891" y="505147"/>
                  <a:pt x="879969" y="534082"/>
                </a:cubicBezTo>
                <a:lnTo>
                  <a:pt x="876239" y="546100"/>
                </a:lnTo>
                <a:lnTo>
                  <a:pt x="12761" y="546100"/>
                </a:lnTo>
                <a:lnTo>
                  <a:pt x="9031" y="534082"/>
                </a:lnTo>
                <a:cubicBezTo>
                  <a:pt x="3110" y="505147"/>
                  <a:pt x="0" y="475186"/>
                  <a:pt x="0" y="444500"/>
                </a:cubicBezTo>
                <a:cubicBezTo>
                  <a:pt x="0" y="199009"/>
                  <a:pt x="199009" y="0"/>
                  <a:pt x="4445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endParaRPr lang="zh-CN" altLang="en-US" sz="2400" b="1" spc="150" dirty="0" err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 rot="14400000" flipV="1">
            <a:off x="2605739" y="4851084"/>
            <a:ext cx="62059" cy="1093606"/>
          </a:xfrm>
          <a:custGeom>
            <a:avLst/>
            <a:gdLst>
              <a:gd name="connsiteX0" fmla="*/ 0 w 4806245"/>
              <a:gd name="connsiteY0" fmla="*/ 0 h 9705673"/>
              <a:gd name="connsiteX1" fmla="*/ 4806245 w 4806245"/>
              <a:gd name="connsiteY1" fmla="*/ 0 h 9705673"/>
              <a:gd name="connsiteX2" fmla="*/ 4806245 w 4806245"/>
              <a:gd name="connsiteY2" fmla="*/ 9705673 h 9705673"/>
              <a:gd name="connsiteX3" fmla="*/ 0 w 4806245"/>
              <a:gd name="connsiteY3" fmla="*/ 9705673 h 970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6245" h="9705673">
                <a:moveTo>
                  <a:pt x="0" y="0"/>
                </a:moveTo>
                <a:lnTo>
                  <a:pt x="4806245" y="0"/>
                </a:lnTo>
                <a:lnTo>
                  <a:pt x="4806245" y="9705673"/>
                </a:lnTo>
                <a:lnTo>
                  <a:pt x="0" y="9705673"/>
                </a:lnTo>
                <a:close/>
              </a:path>
            </a:pathLst>
          </a:custGeom>
        </p:spPr>
      </p:pic>
      <p:sp>
        <p:nvSpPr>
          <p:cNvPr id="15" name="矩形 14"/>
          <p:cNvSpPr/>
          <p:nvPr>
            <p:custDataLst>
              <p:tags r:id="rId16"/>
            </p:custDataLst>
          </p:nvPr>
        </p:nvSpPr>
        <p:spPr>
          <a:xfrm>
            <a:off x="7401917" y="2719292"/>
            <a:ext cx="2745372" cy="1419812"/>
          </a:xfrm>
          <a:prstGeom prst="rect">
            <a:avLst/>
          </a:prstGeom>
        </p:spPr>
        <p:txBody>
          <a:bodyPr wrap="square" anchor="t" anchorCtr="0">
            <a:normAutofit lnSpcReduction="20000"/>
          </a:bodyPr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kern="0" spc="150" dirty="0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Arial" panose="020B0604020202020204" pitchFamily="34" charset="0"/>
              </a:rPr>
              <a:t>OR：或，表示只要所有条件中有一个条件为真就返回结果集。如果使用一个以上的OR条件，这些条件就可以以任意顺序合并在一起，不需要括号。</a:t>
            </a:r>
            <a:endParaRPr lang="zh-CN" altLang="en-US" sz="1400" kern="0" spc="150" dirty="0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17"/>
            </p:custDataLst>
          </p:nvPr>
        </p:nvSpPr>
        <p:spPr>
          <a:xfrm rot="19800000">
            <a:off x="2266116" y="4968669"/>
            <a:ext cx="495845" cy="433289"/>
          </a:xfrm>
          <a:prstGeom prst="rect">
            <a:avLst/>
          </a:prstGeom>
        </p:spPr>
        <p:txBody>
          <a:bodyPr wrap="square">
            <a:normAutofit fontScale="70000"/>
          </a:bodyPr>
          <a:p>
            <a:pPr algn="ctr">
              <a:lnSpc>
                <a:spcPct val="120000"/>
              </a:lnSpc>
            </a:pPr>
            <a:r>
              <a:rPr lang="en-US" altLang="zh-CN" sz="2400" b="1" spc="1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2400" b="1" spc="1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 rot="19800000">
            <a:off x="6340017" y="4908824"/>
            <a:ext cx="900200" cy="552979"/>
          </a:xfrm>
          <a:custGeom>
            <a:avLst/>
            <a:gdLst>
              <a:gd name="connsiteX0" fmla="*/ 444500 w 889000"/>
              <a:gd name="connsiteY0" fmla="*/ 0 h 546100"/>
              <a:gd name="connsiteX1" fmla="*/ 889000 w 889000"/>
              <a:gd name="connsiteY1" fmla="*/ 444500 h 546100"/>
              <a:gd name="connsiteX2" fmla="*/ 879969 w 889000"/>
              <a:gd name="connsiteY2" fmla="*/ 534082 h 546100"/>
              <a:gd name="connsiteX3" fmla="*/ 876239 w 889000"/>
              <a:gd name="connsiteY3" fmla="*/ 546100 h 546100"/>
              <a:gd name="connsiteX4" fmla="*/ 12761 w 889000"/>
              <a:gd name="connsiteY4" fmla="*/ 546100 h 546100"/>
              <a:gd name="connsiteX5" fmla="*/ 9031 w 889000"/>
              <a:gd name="connsiteY5" fmla="*/ 534082 h 546100"/>
              <a:gd name="connsiteX6" fmla="*/ 0 w 889000"/>
              <a:gd name="connsiteY6" fmla="*/ 444500 h 546100"/>
              <a:gd name="connsiteX7" fmla="*/ 444500 w 889000"/>
              <a:gd name="connsiteY7" fmla="*/ 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000" h="546100">
                <a:moveTo>
                  <a:pt x="444500" y="0"/>
                </a:moveTo>
                <a:cubicBezTo>
                  <a:pt x="689991" y="0"/>
                  <a:pt x="889000" y="199009"/>
                  <a:pt x="889000" y="444500"/>
                </a:cubicBezTo>
                <a:cubicBezTo>
                  <a:pt x="889000" y="475186"/>
                  <a:pt x="885891" y="505147"/>
                  <a:pt x="879969" y="534082"/>
                </a:cubicBezTo>
                <a:lnTo>
                  <a:pt x="876239" y="546100"/>
                </a:lnTo>
                <a:lnTo>
                  <a:pt x="12761" y="546100"/>
                </a:lnTo>
                <a:lnTo>
                  <a:pt x="9031" y="534082"/>
                </a:lnTo>
                <a:cubicBezTo>
                  <a:pt x="3110" y="505147"/>
                  <a:pt x="0" y="475186"/>
                  <a:pt x="0" y="444500"/>
                </a:cubicBezTo>
                <a:cubicBezTo>
                  <a:pt x="0" y="199009"/>
                  <a:pt x="199009" y="0"/>
                  <a:pt x="4445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endParaRPr lang="zh-CN" altLang="en-US" sz="2400" b="1" spc="150" dirty="0" err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 rot="14400000" flipV="1">
            <a:off x="6881816" y="4851084"/>
            <a:ext cx="62059" cy="1093606"/>
          </a:xfrm>
          <a:custGeom>
            <a:avLst/>
            <a:gdLst>
              <a:gd name="connsiteX0" fmla="*/ 0 w 4806245"/>
              <a:gd name="connsiteY0" fmla="*/ 0 h 9705673"/>
              <a:gd name="connsiteX1" fmla="*/ 4806245 w 4806245"/>
              <a:gd name="connsiteY1" fmla="*/ 0 h 9705673"/>
              <a:gd name="connsiteX2" fmla="*/ 4806245 w 4806245"/>
              <a:gd name="connsiteY2" fmla="*/ 9705673 h 9705673"/>
              <a:gd name="connsiteX3" fmla="*/ 0 w 4806245"/>
              <a:gd name="connsiteY3" fmla="*/ 9705673 h 970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6245" h="9705673">
                <a:moveTo>
                  <a:pt x="0" y="0"/>
                </a:moveTo>
                <a:lnTo>
                  <a:pt x="4806245" y="0"/>
                </a:lnTo>
                <a:lnTo>
                  <a:pt x="4806245" y="9705673"/>
                </a:lnTo>
                <a:lnTo>
                  <a:pt x="0" y="9705673"/>
                </a:lnTo>
                <a:close/>
              </a:path>
            </a:pathLst>
          </a:custGeom>
        </p:spPr>
      </p:pic>
      <p:sp>
        <p:nvSpPr>
          <p:cNvPr id="19" name="矩形 18"/>
          <p:cNvSpPr/>
          <p:nvPr>
            <p:custDataLst>
              <p:tags r:id="rId20"/>
            </p:custDataLst>
          </p:nvPr>
        </p:nvSpPr>
        <p:spPr>
          <a:xfrm>
            <a:off x="3136610" y="5098002"/>
            <a:ext cx="2745372" cy="1419812"/>
          </a:xfrm>
          <a:prstGeom prst="rect">
            <a:avLst/>
          </a:prstGeom>
        </p:spPr>
        <p:txBody>
          <a:bodyPr wrap="square" anchor="t" anchorCtr="0">
            <a:normAutofit fontScale="80000"/>
          </a:bodyPr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kern="0" spc="150" dirty="0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Arial" panose="020B0604020202020204" pitchFamily="34" charset="0"/>
              </a:rPr>
              <a:t>NOT：非，表示否认一个表达式，当表达式成立时不需要返回结果集，只有是当表达式不成立时才返回结果集。NOT只应用于简单条件，不能将NOT应用于包含AND或者OR条件的复合条件中。</a:t>
            </a:r>
            <a:endParaRPr lang="zh-CN" altLang="en-US" sz="1400" kern="0" spc="150" dirty="0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21"/>
            </p:custDataLst>
          </p:nvPr>
        </p:nvSpPr>
        <p:spPr>
          <a:xfrm rot="19800000">
            <a:off x="6542194" y="4968669"/>
            <a:ext cx="495845" cy="433289"/>
          </a:xfrm>
          <a:prstGeom prst="rect">
            <a:avLst/>
          </a:prstGeom>
        </p:spPr>
        <p:txBody>
          <a:bodyPr wrap="square">
            <a:normAutofit fontScale="70000"/>
          </a:bodyPr>
          <a:p>
            <a:pPr algn="ctr">
              <a:lnSpc>
                <a:spcPct val="120000"/>
              </a:lnSpc>
            </a:pPr>
            <a:r>
              <a:rPr lang="en-US" altLang="zh-CN" sz="2400" b="1" spc="1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en-US" altLang="zh-CN" sz="2400" b="1" spc="1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矩形 23"/>
          <p:cNvSpPr/>
          <p:nvPr>
            <p:custDataLst>
              <p:tags r:id="rId22"/>
            </p:custDataLst>
          </p:nvPr>
        </p:nvSpPr>
        <p:spPr>
          <a:xfrm>
            <a:off x="7401917" y="5097637"/>
            <a:ext cx="2745372" cy="1419812"/>
          </a:xfrm>
          <a:prstGeom prst="rect">
            <a:avLst/>
          </a:prstGeom>
        </p:spPr>
        <p:txBody>
          <a:bodyPr wrap="square" anchor="t" anchorCtr="0">
            <a:normAutofit lnSpcReduction="20000"/>
          </a:bodyPr>
          <a:p>
            <a:pPr algn="just">
              <a:lnSpc>
                <a:spcPct val="120000"/>
              </a:lnSpc>
            </a:pPr>
            <a:r>
              <a:rPr lang="zh-CN" altLang="en-US" sz="1400" kern="0" spc="150" dirty="0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Arial" panose="020B0604020202020204" pitchFamily="34" charset="0"/>
              </a:rPr>
              <a:t>3个逻辑运算符的优先级从高到低为NOT、AND、OR。可以使用“（）”改变系统执行顺序。</a:t>
            </a:r>
            <a:endParaRPr lang="zh-CN" altLang="en-US" sz="1400" kern="0" spc="150" dirty="0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7200" y="1452245"/>
            <a:ext cx="11277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当使用WHERE语句处理多个条件的查询时，就要用到逻辑运算符AND、OR和NOT。使用逻辑运算符可以连接两个以上的条件，当条件成立时返回结果集。下面介绍使用这些逻辑运算符需要遵守的规则。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3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使用逻辑运算符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itle 6"/>
          <p:cNvSpPr txBox="1"/>
          <p:nvPr>
            <p:custDataLst>
              <p:tags r:id="rId6"/>
            </p:custDataLst>
          </p:nvPr>
        </p:nvSpPr>
        <p:spPr>
          <a:xfrm>
            <a:off x="456565" y="1370965"/>
            <a:ext cx="11278235" cy="478726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与WHERE关键字结合，语法格式如下：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表达式1 AND 表达式2 [AND 表达式3 AND 表达式4 AND...]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表达式1 OR 表达式2 [OR 表达式3 OR 表达式4 OR...]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WHERENOT 表达式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【例8.7】查询Student表中年龄大于19岁的男生的信息，语句如下：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Sage&gt;19 AND Ssex=’男’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查询结果如图8-8所示。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5145" y="5480050"/>
            <a:ext cx="2657475" cy="11715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使用范围运算符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155" y="1384284"/>
            <a:ext cx="11277678" cy="422912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90000" lnSpcReduction="2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在WHERE子句中，还可以使用范围运算符查询指定范围内的数据。范围运算符主要有两个：BETWEEN与NOT BETWEEN，语法格式如下：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列名 [NOT] BETWEEN 表达式1 AND 表达式2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上述语法结构要满足以下两个条件：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两个表达式的数据类型要和WHERE后的列的数据类型保持一致。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表达式1小于等于表达式2。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【例8.8】查询Student表中年龄在19与21之间的学生的信息，语句如下：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Sage BETWEEN 19 AND 21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查询结果如图8-9所示。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1170" y="5273040"/>
            <a:ext cx="1847850" cy="11811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使用IN条件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200" y="1384935"/>
            <a:ext cx="11278235" cy="541210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90000" lnSpcReduction="2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在WHERE子句中，使用IN关键字可以确定表达式的取值是否属于某一列表值。同样，如果查询表达式不属于某一列表值，就可以使用NOT IN关键字。其语法格式如下：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列名 [NOT] IN 列表值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其中，NOT是可选项，当值有多个时，需要将这些值用括号括起来，各个列表值用“，”分开。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【例8.9】查询Student表中学号是15009003和15009005的学生的信息，语句如下：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Sno IN (15009003,15009005)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查询结果如图8-10所示。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如果查询学号不是15009003或15009005的学生的信息，那么可以执行以下语句：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Sno NOT IN (15009003,15009005)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4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查询结果如图8-11所示。</a:t>
            </a: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4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8420" y="3645535"/>
            <a:ext cx="1914525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3195" y="5678805"/>
            <a:ext cx="1704975" cy="98107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使用IN条件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2" name="Rectangle 10"/>
          <p:cNvSpPr/>
          <p:nvPr>
            <p:custDataLst>
              <p:tags r:id="rId6"/>
            </p:custDataLst>
          </p:nvPr>
        </p:nvSpPr>
        <p:spPr>
          <a:xfrm>
            <a:off x="6583744" y="1676417"/>
            <a:ext cx="4876838" cy="4876838"/>
          </a:xfrm>
          <a:custGeom>
            <a:avLst/>
            <a:gdLst>
              <a:gd name="connsiteX0" fmla="*/ 4495837 w 4495837"/>
              <a:gd name="connsiteY0" fmla="*/ 0 h 4495834"/>
              <a:gd name="connsiteX1" fmla="*/ 4495834 w 4495837"/>
              <a:gd name="connsiteY1" fmla="*/ 4495834 h 4495834"/>
              <a:gd name="connsiteX2" fmla="*/ 1 w 4495837"/>
              <a:gd name="connsiteY2" fmla="*/ 4495834 h 4495834"/>
              <a:gd name="connsiteX3" fmla="*/ 0 w 4495837"/>
              <a:gd name="connsiteY3" fmla="*/ 1 h 449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37" h="4495834">
                <a:moveTo>
                  <a:pt x="4495837" y="0"/>
                </a:moveTo>
                <a:lnTo>
                  <a:pt x="4495834" y="4495834"/>
                </a:lnTo>
                <a:lnTo>
                  <a:pt x="1" y="4495834"/>
                </a:lnTo>
                <a:lnTo>
                  <a:pt x="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90500" sx="102000" sy="102000" algn="ctr" rotWithShape="0">
              <a:schemeClr val="dk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/data/temp/431a914f-17f0-11ee-8348-eebcf3dea646.jpg431a914f-17f0-11ee-8348-eebcf3dea646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731530" y="3455091"/>
            <a:ext cx="5852160" cy="13194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640" h="5280">
                <a:moveTo>
                  <a:pt x="0" y="0"/>
                </a:moveTo>
                <a:lnTo>
                  <a:pt x="8640" y="0"/>
                </a:lnTo>
                <a:lnTo>
                  <a:pt x="8640" y="5280"/>
                </a:lnTo>
                <a:lnTo>
                  <a:pt x="0" y="528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Title 6"/>
          <p:cNvSpPr txBox="1"/>
          <p:nvPr>
            <p:custDataLst>
              <p:tags r:id="rId9"/>
            </p:custDataLst>
          </p:nvPr>
        </p:nvSpPr>
        <p:spPr>
          <a:xfrm>
            <a:off x="7071420" y="2476354"/>
            <a:ext cx="3901467" cy="3276939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图8-10【例8.9】的运行结果1
如果查询学号不是15009003或15009005的学生的信息，那么可以执行以下语句：
查询结果如图8-11所示。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2.5 使用LIKE条件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200" y="1384935"/>
            <a:ext cx="11278235" cy="547306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5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在WHERE子句中，使用字符匹配符LIKE或NOT LIKE可以对表达式与字符串进行比较，从而实现对字符串的模糊查询。字符匹配符的语法格式如下：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列名 [NOT] LIKE '字符串'
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WHERE子句可以实现对字符串的模糊匹配，进行模糊匹配时，可以在字符串中使用通配符。使用通配符时必须将字符串和通配符都用单引号括起来。表8-2列出了几种比较常用的通配符。
表8-2 通配符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【例8.10】查询Student表中所有姓李的学生的信息，语句如下：
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Sname LIKE '李%'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查询结果如图8-12所示。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如果要查询所有不姓李的学生的信息，那么可以使用NOT LIKE关键字，语句如下：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Sname NOT LIKE '李%'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查询结果如图8-13所示。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185" y="2148840"/>
            <a:ext cx="6743700" cy="1019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9780" y="4097020"/>
            <a:ext cx="2552700" cy="609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3655" y="5635625"/>
            <a:ext cx="2028825" cy="117157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使用WHERE子句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2.6 使用IS NULL条件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" name="图片 3" descr="/data/temp/433837d3-17f0-11ee-8348-eebcf3dea646.jpg433837d3-17f0-11ee-8348-eebcf3dea646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3123506" y="3950615"/>
            <a:ext cx="1919602" cy="13824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0" h="2160">
                <a:moveTo>
                  <a:pt x="0" y="0"/>
                </a:moveTo>
                <a:lnTo>
                  <a:pt x="4320" y="0"/>
                </a:lnTo>
                <a:lnTo>
                  <a:pt x="4320" y="2160"/>
                </a:lnTo>
                <a:lnTo>
                  <a:pt x="0" y="2160"/>
                </a:lnTo>
                <a:close/>
              </a:path>
            </a:pathLst>
          </a:custGeom>
        </p:spPr>
      </p:pic>
      <p:sp>
        <p:nvSpPr>
          <p:cNvPr id="5" name="Title 6"/>
          <p:cNvSpPr txBox="1"/>
          <p:nvPr>
            <p:custDataLst>
              <p:tags r:id="rId8"/>
            </p:custDataLst>
          </p:nvPr>
        </p:nvSpPr>
        <p:spPr>
          <a:xfrm>
            <a:off x="456565" y="1383665"/>
            <a:ext cx="11278235" cy="493141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在WHERE子句中运行IS NULL查询可以查询数据库中为NULL的值；反之，运用IS NOT NULL可以查询不为NULL的值。其语法格式如下：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列名 IS [NOT] NULL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
【例8.11】查询Student表中所有年龄不为空的学生的信息，语句如下：
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Sage IS NOT NULL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查询结果如图8-14所示。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9"/>
    </p:custData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格式化结果集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2325028" y="2265033"/>
            <a:ext cx="7541942" cy="324233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使用SLEECT语句查询数据时，可以对查询的结果进行排序、分组和统计。一旦为查询结果集进行了排序、分组和统计，就可以方便用户查询数据。本节主要介绍如何对查询结果集进行排序、分组和统计。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格式化结果集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3.1 排序结果集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6565" y="1383665"/>
            <a:ext cx="11277600" cy="539305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7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使用ORDER BY子句可以对查询结果集的相应列进行排序。ASC关键字表示升序，DESC关键字表示降序，默认情况下为ASC。其语法格式如下：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列名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表名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表达式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ORDER BY 列名[ASC | DESC]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在上面的语法格式中，当有多个排序列时，每个排序列之间用“,”隔开，而且列后都可以跟一个排序要求。运用ORDER BY子句查询时，若存在NULL值，则按照升序排序含NULL值的元组在最后显示，按照降序排序在最前面显示。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【例8.12】查询数据库stusystem的Student表中所有学生的信息，其中学号按照升序排序，年龄按照降序排序，语句如下：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ORDER BY Sno ASC , Sage DESC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                                           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查询结果如图8-15所示。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由图8-15可知，在使用多列进行排序时，SQL Server会先按第一列进行排序，然后使用第二列对前面的排序结果中相同的值再进行排序。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115" y="4283075"/>
            <a:ext cx="1714500" cy="199072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格式化结果集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3.2 分组结果集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200" y="1448435"/>
            <a:ext cx="11277600" cy="477456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在SELECT语句查询中，可以使用GROUP BY子句对结果集进行分组。其语法格式如下：</a:t>
            </a: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altLang="zh-CN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列名</a:t>
            </a: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altLang="zh-CN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表名</a:t>
            </a: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altLang="zh-CN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表达式</a:t>
            </a: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GROUP BY [ALL]列名 [WITH ROLLUP|CUBE]语法说明如下。
</a:t>
            </a: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just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ALL：通常和WHERE一同使用，表示被GROUP BY分类的依据，即使不满足WHERE条件，也要显示查询结果。</a:t>
            </a: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just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ROLLUP：在存在多个分组条件时使用，只返回第一个分组条件指定的列的统计行，若改变列的顺序，则会使返回</a:t>
            </a: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的结果行数据发生变化。</a:t>
            </a: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just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6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CUBE：ROLLUP的扩展，除了返回GROUP BY子句指定的列以外，还要返回按照组统计的行。
GROUP BY子句通常与统计函数一起使用，常见的统计函数如表8-3所示。</a:t>
            </a: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endParaRPr lang="zh-CN" altLang="en-US" sz="16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3230" y="5407660"/>
            <a:ext cx="6743700" cy="16383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格式化结果集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3.2 分组结果集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2" name="Rectangle 10"/>
          <p:cNvSpPr/>
          <p:nvPr>
            <p:custDataLst>
              <p:tags r:id="rId6"/>
            </p:custDataLst>
          </p:nvPr>
        </p:nvSpPr>
        <p:spPr>
          <a:xfrm>
            <a:off x="833755" y="1676400"/>
            <a:ext cx="10786745" cy="4876800"/>
          </a:xfrm>
          <a:custGeom>
            <a:avLst/>
            <a:gdLst>
              <a:gd name="connsiteX0" fmla="*/ 4495837 w 4495837"/>
              <a:gd name="connsiteY0" fmla="*/ 0 h 4495834"/>
              <a:gd name="connsiteX1" fmla="*/ 4495834 w 4495837"/>
              <a:gd name="connsiteY1" fmla="*/ 4495834 h 4495834"/>
              <a:gd name="connsiteX2" fmla="*/ 1 w 4495837"/>
              <a:gd name="connsiteY2" fmla="*/ 4495834 h 4495834"/>
              <a:gd name="connsiteX3" fmla="*/ 0 w 4495837"/>
              <a:gd name="connsiteY3" fmla="*/ 1 h 449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37" h="4495834">
                <a:moveTo>
                  <a:pt x="4495837" y="0"/>
                </a:moveTo>
                <a:lnTo>
                  <a:pt x="4495834" y="4495834"/>
                </a:lnTo>
                <a:lnTo>
                  <a:pt x="1" y="4495834"/>
                </a:lnTo>
                <a:lnTo>
                  <a:pt x="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90500" sx="102000" sy="102000" algn="ctr" rotWithShape="0">
              <a:schemeClr val="dk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 6"/>
          <p:cNvSpPr txBox="1"/>
          <p:nvPr>
            <p:custDataLst>
              <p:tags r:id="rId7"/>
            </p:custDataLst>
          </p:nvPr>
        </p:nvSpPr>
        <p:spPr>
          <a:xfrm>
            <a:off x="1273810" y="2164080"/>
            <a:ext cx="9533890" cy="390144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</a:t>
            </a:r>
            <a:r>
              <a:rPr lang="zh-CN" altLang="en-US" sz="1800" spc="1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例8.13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】使用COUNT函数查询数据库stusystem的Student表中各个年龄段的学生的总人数，语句如下：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Sage，COUNT(*)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GROUP BY Sage查询结果如图8-16所示。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图8-16 【例8.13】的运行结果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4125" y="4452620"/>
            <a:ext cx="1390650" cy="12954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格式化结果集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3.3 统计结果集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835" y="1384935"/>
            <a:ext cx="11218545" cy="53943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7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HAVING子句查询与WHERE子句查询类似，不同的是WHERE子句限定于行的查询，而HAVING子句限定于对统计组的查询。HAVING子句指定了组或聚合的查询条件，一般与GROUP BY一起使用。其语法格式如下：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solidFill>
                    <a:sysClr val="windowText" lastClr="000000"/>
                  </a:solidFill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HAVING 限制条件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使用HAVING语句查询和WHERE关键字类似，即在关键字后面插入条件表达式来规范查询结果，但两者也有以下3点区别：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WHERE关键字针对的是列的数据，HAVING针对统计组。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WHERE关键字不能与统计函数一起使用，HAVING语句可以，而且一般都和统计函数结合使用。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WHERE关键字在分组前对数据进行过滤，HAVING语句只过滤分组后的数据。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【例8.14】在数据库stusystem的Student表中，按照学生所在系和性别分组，筛选出性别为男，并且系中男学生多于1个的信息，语句如下：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Ssex,Sdept,COUNT(Ssex)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GROUP BY Ssex,Sdept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HAVING Ssex='男'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AND COUNT(Ssex)&gt;1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查询结果如图8-17所示。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8445" y="5988685"/>
            <a:ext cx="1857375" cy="7905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插入数据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2213427" y="2265033"/>
            <a:ext cx="7765145" cy="324233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实际应用中，不仅需要从数据库表中查询数据，还需要向数据表中插入新的数据。这些数据可以是从其他应用程序中得到，并根据需要转存或引入到数据表中，也可以将新数据添加到新创建或已存在的数据表中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插入数据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4.1 使用INSERT语句插入数据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155" y="2000234"/>
            <a:ext cx="11277678" cy="422912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8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在SQL Server中，使用INSERT语句向数据表中插入数据。INSERT语句可以向表中添加一个或多个新行。其语法格式如下：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solidFill>
                    <a:sysClr val="windowText" lastClr="000000"/>
                  </a:solidFill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[INTO] 表名或视图名字段列表</a:t>
            </a:r>
            <a:endParaRPr lang="zh-CN" altLang="en-US" sz="1800" spc="100" dirty="0">
              <a:ln w="3175">
                <a:solidFill>
                  <a:sysClr val="windowText" lastClr="000000"/>
                </a:solidFill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solidFill>
                    <a:sysClr val="windowText" lastClr="000000"/>
                  </a:solidFill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solidFill>
                    <a:sysClr val="windowText" lastClr="000000"/>
                  </a:solidFill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 数据值列表</a:t>
            </a:r>
            <a:endParaRPr lang="zh-CN" altLang="en-US" sz="1800" spc="100" dirty="0">
              <a:ln w="3175">
                <a:solidFill>
                  <a:sysClr val="windowText" lastClr="000000"/>
                </a:solidFill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在使用INSERT语句插入数据时，我们需要注意以下几点：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Wingdings" panose="05000000000000000000" charset="0"/>
              <a:buChar char="l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字段列表放在“()”中，各字段之间用“,”隔开。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Wingdings" panose="05000000000000000000" charset="0"/>
              <a:buChar char="l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数据值列表放在“()”中，各项按与字段列表对应的顺序编辑并使用“,”隔开。若没有指定字段列表，则各项按数据表中字段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顺序对应编辑。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Wingdings" panose="05000000000000000000" charset="0"/>
              <a:buChar char="l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数据值列表中的数据值的数据类型必须对应相关字段的数据类型，其中字符型数据要加“’”。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Wingdings" panose="05000000000000000000" charset="0"/>
              <a:buChar char="l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同时插入多行数据时，各行数据放在不同的“()”中，各个“()”之间用逗号隔开。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Wingdings" panose="05000000000000000000" charset="0"/>
              <a:buChar char="l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插入数据时，必须遵循定义在各列的约束和规则。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Wingdings" panose="05000000000000000000" charset="0"/>
              <a:buChar char="l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若在可以为空的字段插入值NULL，则无论是否有默认值，插入该字段都为NULL。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Wingdings" panose="05000000000000000000" charset="0"/>
              <a:buChar char="l"/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对于字段列表中遗漏的项是标识列或有默认值的，系统会根据标识属性和默认值自动输入。若该列不允许为空，则会出错。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7"/>
    </p:custData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插入数据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4.1 使用INSERT语句插入数据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200" y="1384300"/>
            <a:ext cx="11277600" cy="48450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6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【例8.15】在数据库stusystem中的Student表中插入一条新纪录，要求该记录包括Student表中所有属性列的信息，语句如下：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 Student(Sno,Sname,Ssex,Sage,Sdept)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VALUES('15009013','王平','男',18,'IS' )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或者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VALUES('15009013','王平','男',18,'IS' )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上述语句向Student表插入了一条新的学生信息记录。由于语句是将数据添加到一行中的所有列，因此无须给出所有列名，但插入的数据值必须与数据表定义时给出的列名顺序完全相同。执行语句将返回如下结果：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（1 行受影响）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返回结果说明已经向数据表中成功插入数据。如果想查看新添加的学生信息记录，那么可以使用SELECT语句进行查询，语句如下：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*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查询结果如图8-18所示。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1015" y="4819650"/>
            <a:ext cx="1628775" cy="20383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4.2  使用INSERT...SELECT语句插入数据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1000" y="927100"/>
            <a:ext cx="11276965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使用INSERT...SELECT语句可以将某一个表中的数据插入另一个新数据表中。其语法格式如下：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INSERT 目标表名称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SELECT 字段列表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FROM 源表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WHERE 条件表达式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在使用INSERT...SELECT语句时，需要注意以下事项和原则：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在最外面的查询表中插入所有满足SELECT语句的数据行。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必须保证要插入新数据的表存在于数据库中。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对于插入新数据的表中的各列数据类型，必须和源表中各类数据类型保持一致。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必须明确是否存在默认值或是否允许被遗漏的列为NULL，若不允许位NULL，则必须为这些列提供列值。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/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【例8.16】在stusystem数据库中创建一个临时的nStudent表，并使用INSERT...SELECT语句将Student表中的数据保存到临时的nStudent表中。查询语句如下：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USE stusystem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INSERT nStudent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SELECT Sno,Sname,Ssex,Sage,Sdept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FROM Student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在查询窗口中执行上面的语句，将返回如下结果：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（13 行受影响）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通过结果，我们可以看出已经成功地向nStudent表中插入了6条新记录，使用SELECT查询语句可以查看刚才插入的记录，语句如下：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USE stusystem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SELECT *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FROM nStudent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查询结果如图8-19所示。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735" y="5006975"/>
            <a:ext cx="1676400" cy="23241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4.3  使用SELECT...INTO语句创建表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457200" y="927100"/>
            <a:ext cx="11278235" cy="46101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5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使用SELECT...INTO语句可以把任何查询结果集导入一个新表中。其语法格式如下：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字段列表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INTO 新建表名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源表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[WHERE 条件表达式]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SELECT后的字段来源于源表，对源表中对应的列重命名，使用AS关键字，语法如下：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字段1 AS 新列名,字段2 AS 新列名,..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SELECT...INTO语句是向不存在的表中添加数据，如果表已经存在，就会报错。因为它会自动创建一个新表，而使用INSERT...SELECT语句是向已存在的表中添加数据。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【例8.17】将stusystem数据库的Student表中的学号、姓名、年龄保存到一个临时本地表n_Student中，语句如下：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Sno,Sname,Sage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INTO n_Student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通过SELECT语句查询，可以看出Student表中的指定列已经插入临时表n_Student中，在查询窗口中执行上面的语句，将返回如下结果：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（13 行受影响）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查询结果如图8-20所示。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3040" y="4649470"/>
            <a:ext cx="1581150" cy="25812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更新数据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2436630" y="2265033"/>
            <a:ext cx="7318740" cy="324233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在数据库中保存的数据并不会永远不变，当数据发生变化时，就需要修改数据库中的数据。本节主要介绍如何更新数据库表中的数据。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更新数据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5.1 修改表数据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305560"/>
            <a:ext cx="1127823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使用UPDATE语句修改表中的数据，可以修改一个或多个字段值，也可以修改一行或多行，语法如下：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UPDATE 表名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SET 字段=数据值,...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[WHERE 条件表达式]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若不使用WHERE，则将改变所有行的数值。这里要保证数据值的数据类型与字段数据类型一致。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【例8.18】将学号为15009003的学生的年龄增加一岁，语句如下：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USE stusystem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UPDATE student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SET Sage=Sage+1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WHERE Sno='15009003'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语句执行完成后可以使用SELECT语句查询更新结果，更新前的结果如图8-21所示，更新后结果如图8-22所示。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60" y="4530090"/>
            <a:ext cx="2390775" cy="2476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1020" y="4530090"/>
            <a:ext cx="2266950" cy="2476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更新数据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5.2 根据其他表更新数据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200" y="1384300"/>
            <a:ext cx="11278870" cy="435229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5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表之间是有联系的，有时候根据其他表中的数据来确定当前表需要修改的地方。这就是本节要讲的根据其他表更新数据。其语法结构如下：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UPDATE 表名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SET 字段=数据值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数据库名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条件表达式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【例8.19】更新stusystem数据库的SC表中符合条件的Grade列为0，条件为Sdept列在student表中为CS，语句如下：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UPDATE SC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SET Grade=0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Sno in (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SELECT Sno 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Sdept=’CS’)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在查询窗口中执行上面的语句，将返回如下结果：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（4 行受影响）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更新前的结果如图8-23所示，更新后的结果如图8-24所示。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8505" y="4497070"/>
            <a:ext cx="1362075" cy="1647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2890" y="4497070"/>
            <a:ext cx="1381125" cy="16383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72560" y="6280785"/>
            <a:ext cx="25146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图8-23 【例8.19】的运行结果1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7212330" y="6280785"/>
            <a:ext cx="25146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图8-2</a:t>
            </a:r>
            <a:r>
              <a:rPr lang="en-US" altLang="zh-CN" sz="1200"/>
              <a:t>4</a:t>
            </a:r>
            <a:r>
              <a:rPr lang="zh-CN" altLang="en-US" sz="1200"/>
              <a:t> 【例8.19】的运行结果</a:t>
            </a:r>
            <a:r>
              <a:rPr lang="en-US" altLang="zh-CN" sz="1200"/>
              <a:t>2</a:t>
            </a:r>
            <a:endParaRPr lang="en-US" altLang="zh-CN" sz="1200"/>
          </a:p>
        </p:txBody>
      </p:sp>
    </p:spTree>
    <p:custDataLst>
      <p:tags r:id="rId9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更新数据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5.3 使用TOP表达式修改数据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835" y="2103120"/>
            <a:ext cx="11277600" cy="324231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7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TOP关键字在数据查询中使用过，使用TOP关键字不仅可以查询前几行或前多少百分比的数据，也可以一次性修改这些数据。具体语法如下：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UPDATE TOP(数值或百分比表名)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SET 字段=数据值...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【例8.20】更新数据库stusystem的Student表，将表中前3行的学生所在系修改为IS，语句如下：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UPDATE TOP（3）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SET Sdept=’IS’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在查询窗口中执行上面的语句，将返回如下结果：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（3 行受影响）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更新前的结果如图8-25所示，更新后的结果如图8-26所示。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351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1745" y="4709160"/>
            <a:ext cx="1671320" cy="177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4830" y="4708843"/>
            <a:ext cx="1671320" cy="18002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9"/>
    </p:custData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 删除数据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1990225" y="2265033"/>
            <a:ext cx="8211550" cy="324233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数据库创建成功后，随着时间的变长，可能会出现一些无用的数据。这些无用的数据不仅会占用空间，还会影响修改和查询的速度，所以应及时将其删除。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 删除数据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6.1 使用DELETE语句删除数据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161" y="1831204"/>
            <a:ext cx="11277678" cy="456719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6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使用DELETE语句可以通过WHERE条件表达式删除表或视图中的一行或多行数据。注意，若省去WHERE语句，则将删除表或视图中所有数据。其语法格式如下：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DELETE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表或视图名[WHERE 条件表达式]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语法说明如下：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1450" indent="-1714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DELETE语句只能删除整行数据，无法删除单个字段数据。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1450" indent="-1714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DELETE语句只能删除数据，无法删除表或视图。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1450" indent="-1714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除了使用WHERE条件表达式，还可以使用TOP指定删除的数据行。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1450" indent="-1714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表与表之间的联系限定了一些数据不能随意删除。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1450" indent="-1714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误删的数据要尽快恢复，可以使用日志记录。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71450" indent="-171450"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【例8.21】删除stusystem数据库Student表中学号为15009009的学生的数据，语句如下：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DELETE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StudentWHERE Sno='15009009'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执行上述语句后，结果显示1行受影响，使用SELECT语句查看删除结果，查询结果如图8-27所示。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352" name="图片 29"/>
          <p:cNvPicPr>
            <a:picLocks noChangeAspect="1"/>
          </p:cNvPicPr>
          <p:nvPr/>
        </p:nvPicPr>
        <p:blipFill>
          <a:blip r:embed="rId7"/>
          <a:srcRect t="7864"/>
          <a:stretch>
            <a:fillRect/>
          </a:stretch>
        </p:blipFill>
        <p:spPr>
          <a:xfrm>
            <a:off x="7346633" y="5957253"/>
            <a:ext cx="1979295" cy="5962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8"/>
    </p:custData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 删除数据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6.2 使用TRUNCATE TABLE语句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200" y="1384300"/>
            <a:ext cx="11277600" cy="48450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8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使用TRUNCATE TABLE语句可以快速删除表中所有记录，而且无日志记录，只记录整个数据页的释放操作。TRUCATE TABLE语句在功能上与不含WHERE子句的DELETE语句相同，但是TRUNCATE TABLE语句的执行速度更快，使用的系统资源和事务日志资源更少。其语句格式如下：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TRUCATE TABLE 表或视图名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虽然使用DELETE语句和TRUNCATE TABLE语句都能够删除表中的所有数据，但执行TRUNCATE TABLE语句要比DELETE语句快得多，表现为以下两点：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使用DELETE语句，系统一次一行地处理要删除的表中的记录。在从表中删除行之前，在事务处理日志中记录相关的删除操作和删除行中的列值，以便在删除失败时使用事务处理日志恢复数据。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 fontAlgn="auto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TRUNCATE TABLE语句一次性完成删除与表有关的所有数据页的操作。另外，TRUNCATE TABLE语句并不更新事务处理日志。因此，在SQL Server中，使用TRUNCATE TABLE语句从表中删除行后，将不能用ROLLBACK命令取消对行的删除操作。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需要注意的是，TRUNCATE TABLE语句不能用于有外关键字依赖的表。TRUNCATE TABLE语句和DELETE语句都不删除表结构，若要删除表结构及其数据，则可以使用DROP TABLE语句。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</a:t>
            </a:r>
            <a:r>
              <a:rPr lang="zh-CN" altLang="en-US" sz="1800" spc="1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例8.22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】删除Student表中所有行的数据信息，可以使用如下语句：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TRUNCATE TABLE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7"/>
    </p:custData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4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 删除数据</a:t>
            </a:r>
            <a:endParaRPr lang="zh-CN"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5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6.3 删除基于其他表中的数据行</a:t>
            </a:r>
            <a:endParaRPr dirty="0" err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6"/>
            </p:custDataLst>
          </p:nvPr>
        </p:nvSpPr>
        <p:spPr>
          <a:xfrm>
            <a:off x="457200" y="1384300"/>
            <a:ext cx="11276965" cy="468376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9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使用带有连接或子查询的DELETE语句可以删除基于其他表中的行数据。在DELETE语句中，WHERE子句可以引用自身表中的值，并决定删除哪些行。如果使用了附加的FROM子句，就可以引用其他表来决定删除哪些行。当使用带有附加FROM子句的DELETE语句时，第一个FROM子句指出要删除行所在的表，第二个FROM子句引入一个连接，作为DELETE语句的约束标准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【例8.23】删除stusystem数据库的SC表中的学生选课信息，并且学生所在系为CS，语句如下：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 stusystem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DELETE FROM SC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FROM student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INNER JOIN SC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ON student.Sno=SC.Sno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WHERE student.Sdept='CS'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在上述语句中，第一个FROM子句指定了删除数据所在的表，即SC表，第二个FROM子句指定一个连接作为DELETE语句的约束标准，使用SELETE语句查询，执行删除后的结果集如图8-28所示。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353" name="图片 24"/>
          <p:cNvPicPr>
            <a:picLocks noChangeAspect="1"/>
          </p:cNvPicPr>
          <p:nvPr/>
        </p:nvPicPr>
        <p:blipFill>
          <a:blip r:embed="rId7"/>
          <a:srcRect t="5624"/>
          <a:stretch>
            <a:fillRect/>
          </a:stretch>
        </p:blipFill>
        <p:spPr>
          <a:xfrm>
            <a:off x="8040688" y="5807710"/>
            <a:ext cx="1270635" cy="105029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8"/>
    </p:custData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solidFill>
                  <a:schemeClr val="accent1"/>
                </a:solidFill>
              </a:rPr>
              <a:t>谢谢</a:t>
            </a:r>
            <a:endParaRPr lang="en-US" altLang="zh-CN">
              <a:solidFill>
                <a:schemeClr val="accent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1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空白演示经典风格"/>
  <p:tag name="KSO_WM_UNIT_TEXT_FILL_FORE_SCHEMECOLOR_INDEX_BRIGHTNESS" val="0"/>
  <p:tag name="KSO_WM_UNIT_TEXT_FILL_FORE_SCHEMECOLOR_INDEX" val="5"/>
  <p:tag name="KSO_WM_UNIT_TEXT_FILL_TYPE" val="1"/>
</p:tagLst>
</file>

<file path=ppt/tags/tag130.xml><?xml version="1.0" encoding="utf-8"?>
<p:tagLst xmlns:p="http://schemas.openxmlformats.org/presentationml/2006/main"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6915_1*f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演讲者："/>
  <p:tag name="KSO_WM_UNIT_SUBTYPE" val="b"/>
  <p:tag name="KSO_WM_UNIT_TEXT_FILL_FORE_SCHEMECOLOR_INDEX_BRIGHTNESS" val="0"/>
  <p:tag name="KSO_WM_UNIT_TEXT_FILL_FORE_SCHEMECOLOR_INDEX" val="5"/>
  <p:tag name="KSO_WM_UNIT_TEXT_FILL_TYPE" val="1"/>
</p:tagLst>
</file>

<file path=ppt/tags/tag131.xml><?xml version="1.0" encoding="utf-8"?>
<p:tagLst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MASTER_THUMB_INDEX" val="12"/>
  <p:tag name="KSO_WM_TEMPLATE_THUMBS_INDEX" val="1、4、7、8、10、11、12、13、15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  <p:tag name="WM_BEAUTIFY_ZORDER_FLAG_TAG" val="3"/>
</p:tagLst>
</file>

<file path=ppt/tags/tag1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4"/>
</p:tagLst>
</file>

<file path=ppt/tags/tag1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5"/>
</p:tagLst>
</file>

<file path=ppt/tags/tag1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6"/>
</p:tagLst>
</file>

<file path=ppt/tags/tag1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7"/>
</p:tagLst>
</file>

<file path=ppt/tags/tag14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  <p:tag name="WM_BEAUTIFY_ZORDER_FLAG_TAG" val="8"/>
</p:tagLst>
</file>

<file path=ppt/tags/tag142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20},&quot;minSize&quot;:{&quot;size1&quot;:11.2},&quot;normalSize&quot;:{&quot;size1&quot;:11.2},&quot;subLayout&quot;:[{&quot;id&quot;:&quot;2023-07-01T17:18:37&quot;,&quot;margin&quot;:{&quot;bottom&quot;:0.025999998673796654,&quot;left&quot;:1.2699999809265137,&quot;right&quot;:1.2699999809265137,&quot;top&quot;:0.4230000376701355}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4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076_1*f*1"/>
  <p:tag name="KSO_WM_TEMPLATE_CATEGORY" val="diagram"/>
  <p:tag name="KSO_WM_TEMPLATE_INDEX" val="2021207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40"/>
  <p:tag name="KSO_WM_UNIT_SHOW_EDIT_AREA_INDICATION" val="1"/>
  <p:tag name="KSO_WM_CHIP_GROUPID" val="5e6b05596848fb12bee65ac8"/>
  <p:tag name="KSO_WM_CHIP_XID" val="5e6b05596848fb12bee65aca"/>
  <p:tag name="KSO_WM_UNIT_DEC_AREA_ID" val="a44939a9ecde49c2b7ceab239baddf97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409b27c58b4941cea1b3fa7cc03b0257"/>
  <p:tag name="KSO_WM_UNIT_SUPPORT_UNIT_TYPE" val="[&quot;d&quot;,&quot;l&quot;,&quot;m&quot;,&quot;n&quot;,&quot;o&quot;,&quot;p&quot;,&quot;q&quot;,&quot;r&quot;,&quot;δ&quot;,&quot;ε&quot;,&quot;ζ&quot;,&quot;η&quot;,&quot;β&quot;,&quot;α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9af9840c9383becde695b2"/>
  <p:tag name="KSO_WM_TEMPLATE_ASSEMBLE_GROUPID" val="639af9840c9383becde695b2"/>
  <p:tag name="WM_BEAUTIFY_ZORDER_FLAG_TAG" val="5"/>
</p:tagLst>
</file>

<file path=ppt/tags/tag148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20},&quot;minSize&quot;:{&quot;size1&quot;:11.2},&quot;normalSize&quot;:{&quot;size1&quot;:11.2},&quot;subLayout&quot;:[{&quot;id&quot;:&quot;2023-07-01T17:18:37&quot;,&quot;margin&quot;:{&quot;bottom&quot;:0.025999998673796654,&quot;left&quot;:1.2699999809265137,&quot;right&quot;:1.2699999809265137,&quot;top&quot;:0.4230000376701355}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154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16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4"/>
</p:tagLst>
</file>

<file path=ppt/tags/tag161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16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907_1*f*1"/>
  <p:tag name="KSO_WM_TEMPLATE_CATEGORY" val="diagram"/>
  <p:tag name="KSO_WM_TEMPLATE_INDEX" val="2021190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416"/>
  <p:tag name="KSO_WM_UNIT_SHOW_EDIT_AREA_INDICATION" val="1"/>
  <p:tag name="KSO_WM_CHIP_GROUPID" val="5e6b05596848fb12bee65ac8"/>
  <p:tag name="KSO_WM_CHIP_XID" val="5e6b05596848fb12bee65aca"/>
  <p:tag name="KSO_WM_UNIT_DEC_AREA_ID" val="72574218903845829fefbcdd848a082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ca594517c88f4493a258b9c6261e778f"/>
  <p:tag name="KSO_WM_UNIT_SUPPORT_UNIT_TYPE" val="[&quot;l&quot;,&quot;m&quot;,&quot;n&quot;,&quot;o&quot;,&quot;p&quot;,&quot;q&quot;,&quot;r&quot;,&quot;δ&quot;,&quot;ε&quot;,&quot;ζ&quot;,&quot;η&quot;]"/>
  <p:tag name="KSO_WM_UNIT_TEXT_FILL_FORE_SCHEMECOLOR_INDEX_BRIGHTNESS" val="0.25"/>
  <p:tag name="KSO_WM_UNIT_TEXT_FILL_FORE_SCHEMECOLOR_INDEX" val="13"/>
  <p:tag name="KSO_WM_UNIT_TEXT_FILL_TYPE" val="1"/>
  <p:tag name="KSO_WM_TEMPLATE_ASSEMBLE_XID" val="60656f114054ed1e2fb802db"/>
  <p:tag name="KSO_WM_TEMPLATE_ASSEMBLE_GROUPID" val="60656f114054ed1e2fb802db"/>
  <p:tag name="WM_BEAUTIFY_ZORDER_FLAG_TAG" val="5"/>
</p:tagLst>
</file>

<file path=ppt/tags/tag168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174.xml><?xml version="1.0" encoding="utf-8"?>
<p:tagLst xmlns:p="http://schemas.openxmlformats.org/presentationml/2006/main">
  <p:tag name="KSO_WM_UNIT_VALUE" val="381*76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2076_1*d*1"/>
  <p:tag name="KSO_WM_TEMPLATE_CATEGORY" val="diagram"/>
  <p:tag name="KSO_WM_TEMPLATE_INDEX" val="2021207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e0977ddcfab942c1a8f957812c87e95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35fd9b56673148af8bc0933fa5977402"/>
  <p:tag name="KSO_WM_UNIT_PLACING_PICTURE" val="35fd9b56673148af8bc0933fa5977402"/>
  <p:tag name="KSO_WM_UNIT_SUPPORT_UNIT_TYPE" val="[&quot;d&quot;,&quot;α&quot;,&quot;β&quot;]"/>
  <p:tag name="KSO_WM_TEMPLATE_ASSEMBLE_XID" val="639af9840c9383becde695b2"/>
  <p:tag name="KSO_WM_TEMPLATE_ASSEMBLE_GROUPID" val="639af9840c9383becde695b2"/>
  <p:tag name="WM_BEAUTIFY_ZORDER_FLAG_TAG" val="5"/>
</p:tagLst>
</file>

<file path=ppt/tags/tag17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076_1*f*1"/>
  <p:tag name="KSO_WM_TEMPLATE_CATEGORY" val="diagram"/>
  <p:tag name="KSO_WM_TEMPLATE_INDEX" val="2021207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40"/>
  <p:tag name="KSO_WM_UNIT_SHOW_EDIT_AREA_INDICATION" val="1"/>
  <p:tag name="KSO_WM_CHIP_GROUPID" val="5e6b05596848fb12bee65ac8"/>
  <p:tag name="KSO_WM_CHIP_XID" val="5e6b05596848fb12bee65aca"/>
  <p:tag name="KSO_WM_UNIT_DEC_AREA_ID" val="a44939a9ecde49c2b7ceab239baddf97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409b27c58b4941cea1b3fa7cc03b0257"/>
  <p:tag name="KSO_WM_UNIT_SUPPORT_UNIT_TYPE" val="[&quot;d&quot;,&quot;l&quot;,&quot;m&quot;,&quot;n&quot;,&quot;o&quot;,&quot;p&quot;,&quot;q&quot;,&quot;r&quot;,&quot;δ&quot;,&quot;ε&quot;,&quot;ζ&quot;,&quot;η&quot;,&quot;β&quot;,&quot;α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9af9840c9383becde695b2"/>
  <p:tag name="KSO_WM_TEMPLATE_ASSEMBLE_GROUPID" val="639af9840c9383becde695b2"/>
  <p:tag name="WM_BEAUTIFY_ZORDER_FLAG_TAG" val="6"/>
</p:tagLst>
</file>

<file path=ppt/tags/tag176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18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076_1*f*1"/>
  <p:tag name="KSO_WM_TEMPLATE_CATEGORY" val="diagram"/>
  <p:tag name="KSO_WM_TEMPLATE_INDEX" val="2021207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40"/>
  <p:tag name="KSO_WM_UNIT_SHOW_EDIT_AREA_INDICATION" val="1"/>
  <p:tag name="KSO_WM_CHIP_GROUPID" val="5e6b05596848fb12bee65ac8"/>
  <p:tag name="KSO_WM_CHIP_XID" val="5e6b05596848fb12bee65aca"/>
  <p:tag name="KSO_WM_UNIT_DEC_AREA_ID" val="a44939a9ecde49c2b7ceab239baddf97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409b27c58b4941cea1b3fa7cc03b0257"/>
  <p:tag name="KSO_WM_UNIT_SUPPORT_UNIT_TYPE" val="[&quot;d&quot;,&quot;l&quot;,&quot;m&quot;,&quot;n&quot;,&quot;o&quot;,&quot;p&quot;,&quot;q&quot;,&quot;r&quot;,&quot;δ&quot;,&quot;ε&quot;,&quot;ζ&quot;,&quot;η&quot;,&quot;β&quot;,&quot;α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9af9840c9383becde695b2"/>
  <p:tag name="KSO_WM_TEMPLATE_ASSEMBLE_GROUPID" val="639af9840c9383becde695b2"/>
  <p:tag name="WM_BEAUTIFY_ZORDER_FLAG_TAG" val="6"/>
</p:tagLst>
</file>

<file path=ppt/tags/tag183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18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962_1*f*1"/>
  <p:tag name="KSO_WM_TEMPLATE_CATEGORY" val="diagram"/>
  <p:tag name="KSO_WM_TEMPLATE_INDEX" val="2021196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04"/>
  <p:tag name="KSO_WM_UNIT_SHOW_EDIT_AREA_INDICATION" val="1"/>
  <p:tag name="KSO_WM_CHIP_GROUPID" val="5e6b05596848fb12bee65ac8"/>
  <p:tag name="KSO_WM_CHIP_XID" val="5e6b05596848fb12bee65aca"/>
  <p:tag name="KSO_WM_UNIT_DEC_AREA_ID" val="bddaa79ff66248e1affdcdab873b159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e539facaed7a4d6789e0a8188a94695b"/>
  <p:tag name="KSO_WM_UNIT_SUPPORT_UNIT_TYPE" val="[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154054ed1e2fb8032d"/>
  <p:tag name="KSO_WM_TEMPLATE_ASSEMBLE_GROUPID" val="60656f154054ed1e2fb8032d"/>
  <p:tag name="WM_BEAUTIFY_ZORDER_FLAG_TAG" val="6"/>
</p:tagLst>
</file>

<file path=ppt/tags/tag190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9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  <p:tag name="WM_BEAUTIFY_ZORDER_FLAG_TAG" val="3"/>
</p:tagLst>
</file>

<file path=ppt/tags/tag19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4"/>
</p:tagLst>
</file>

<file path=ppt/tags/tag19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5"/>
</p:tagLst>
</file>

<file path=ppt/tags/tag19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6"/>
</p:tagLst>
</file>

<file path=ppt/tags/tag19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7"/>
</p:tagLst>
</file>

<file path=ppt/tags/tag20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  <p:tag name="WM_BEAUTIFY_ZORDER_FLAG_TAG" val="8"/>
</p:tagLst>
</file>

<file path=ppt/tags/tag201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20},&quot;minSize&quot;:{&quot;size1&quot;:11.2},&quot;normalSize&quot;:{&quot;size1&quot;:11.2},&quot;subLayout&quot;:[{&quot;id&quot;:&quot;2023-07-01T17:18:37&quot;,&quot;margin&quot;:{&quot;bottom&quot;:0.025999998673796654,&quot;left&quot;:1.2699999809265137,&quot;right&quot;:1.2699999809265137,&quot;top&quot;:0.4230000376701355}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0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  <p:tag name="WM_BEAUTIFY_ZORDER_FLAG_TAG" val="9"/>
</p:tagLst>
</file>

<file path=ppt/tags/tag208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19404_2*l_h_i*1_1_1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VALUE" val="3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19404_2*l_h_i*1_1_2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3"/>
  <p:tag name="KSO_WM_UNIT_ID" val="diagram20219404_2*l_h_i*1_1_3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VALUE" val="1"/>
  <p:tag name="KSO_WM_UNIT_TEXT_FILL_FORE_SCHEMECOLOR_INDEX_BRIGHTNESS" val="0"/>
  <p:tag name="KSO_WM_UNIT_TEXT_FILL_FORE_SCHEMECOLOR_INDEX" val="14"/>
  <p:tag name="KSO_WM_UNIT_TEXT_FILL_TYPE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19404_2*l_h_i*1_2_1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VALUE" val="3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9404_2*l_h_i*1_2_2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</p:tagLst>
</file>

<file path=ppt/tags/tag219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VALUE" val="1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9404_2*l_h_f*1_2_1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TEXT_FILL_FORE_SCHEMECOLOR_INDEX_BRIGHTNESS" val="0"/>
  <p:tag name="KSO_WM_UNIT_TEXT_FILL_FORE_SCHEMECOLOR_INDEX" val="13"/>
  <p:tag name="KSO_WM_UNIT_TEXT_FILL_TYPE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3"/>
  <p:tag name="KSO_WM_UNIT_ID" val="diagram20219404_2*l_h_i*1_2_3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VALUE" val="1"/>
  <p:tag name="KSO_WM_UNIT_TEXT_FILL_FORE_SCHEMECOLOR_INDEX_BRIGHTNESS" val="0"/>
  <p:tag name="KSO_WM_UNIT_TEXT_FILL_FORE_SCHEMECOLOR_INDEX" val="14"/>
  <p:tag name="KSO_WM_UNIT_TEXT_FILL_TYPE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19404_2*l_h_i*1_3_1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VALUE" val="3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19404_2*l_h_i*1_3_2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</p:tagLst>
</file>

<file path=ppt/tags/tag223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VALUE" val="1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19404_2*l_h_f*1_3_1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TEXT_FILL_FORE_SCHEMECOLOR_INDEX_BRIGHTNESS" val="0"/>
  <p:tag name="KSO_WM_UNIT_TEXT_FILL_FORE_SCHEMECOLOR_INDEX" val="13"/>
  <p:tag name="KSO_WM_UNIT_TEXT_FILL_TYPE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3"/>
  <p:tag name="KSO_WM_UNIT_ID" val="diagram20219404_2*l_h_i*1_3_3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VALUE" val="1"/>
  <p:tag name="KSO_WM_UNIT_TEXT_FILL_FORE_SCHEMECOLOR_INDEX_BRIGHTNESS" val="0"/>
  <p:tag name="KSO_WM_UNIT_TEXT_FILL_FORE_SCHEMECOLOR_INDEX" val="14"/>
  <p:tag name="KSO_WM_UNIT_TEXT_FILL_TYPE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19404_2*l_h_i*1_4_1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VALUE" val="3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19404_2*l_h_i*1_4_2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</p:tagLst>
</file>

<file path=ppt/tags/tag227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VALUE" val="1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19404_2*l_h_f*1_4_1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TEXT_FILL_FORE_SCHEMECOLOR_INDEX_BRIGHTNESS" val="0"/>
  <p:tag name="KSO_WM_UNIT_TEXT_FILL_FORE_SCHEMECOLOR_INDEX" val="13"/>
  <p:tag name="KSO_WM_UNIT_TEXT_FILL_TYPE" val="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3"/>
  <p:tag name="KSO_WM_UNIT_ID" val="diagram20219404_2*l_h_i*1_4_3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VALUE" val="1"/>
  <p:tag name="KSO_WM_UNIT_TEXT_FILL_FORE_SCHEMECOLOR_INDEX_BRIGHTNESS" val="0"/>
  <p:tag name="KSO_WM_UNIT_TEXT_FILL_FORE_SCHEMECOLOR_INDEX" val="14"/>
  <p:tag name="KSO_WM_UNIT_TEXT_FILL_TYPE" val="1"/>
</p:tagLst>
</file>

<file path=ppt/tags/tag229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VALUE" val="1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9404_2*l_h_f*1_1_1"/>
  <p:tag name="KSO_WM_TEMPLATE_CATEGORY" val="diagram"/>
  <p:tag name="KSO_WM_TEMPLATE_INDEX" val="20219404"/>
  <p:tag name="KSO_WM_UNIT_LAYERLEVEL" val="1_1_1"/>
  <p:tag name="KSO_WM_TAG_VERSION" val="1.0"/>
  <p:tag name="KSO_WM_BEAUTIFY_FLAG" val="#wm#"/>
  <p:tag name="KSO_WM_CHIP_GROUPID" val="60bed8564737e0f4c1ebe8e3"/>
  <p:tag name="KSO_WM_CHIP_XID" val="60bed8564737e0f4c1ebe8e4"/>
  <p:tag name="KSO_WM_ASSEMBLE_CHIP_INDEX" val="cd028d32558e451e891b3383f82d1bfb"/>
  <p:tag name="KSO_WM_UNIT_TEXT_FILL_FORE_SCHEMECOLOR_INDEX_BRIGHTNESS" val="0"/>
  <p:tag name="KSO_WM_UNIT_TEXT_FILL_FORE_SCHEMECOLOR_INDEX" val="13"/>
  <p:tag name="KSO_WM_UNIT_TEXT_FILL_TYPE" val="1"/>
</p:tagLst>
</file>

<file path=ppt/tags/tag230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3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899_1*f*1"/>
  <p:tag name="KSO_WM_TEMPLATE_CATEGORY" val="diagram"/>
  <p:tag name="KSO_WM_TEMPLATE_INDEX" val="20211899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4"/>
  <p:tag name="KSO_WM_UNIT_SHOW_EDIT_AREA_INDICATION" val="1"/>
  <p:tag name="KSO_WM_CHIP_GROUPID" val="5e6b05596848fb12bee65ac8"/>
  <p:tag name="KSO_WM_CHIP_XID" val="5e6b05596848fb12bee65aca"/>
  <p:tag name="KSO_WM_UNIT_DEC_AREA_ID" val="24c1277e83284b3e8ff9d295f21b0b3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11d359df93964d5d92ead9569eaa9c26"/>
  <p:tag name="KSO_WM_UNIT_SUPPORT_UNIT_TYPE" val="[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0e4054ed1e2fb802b1"/>
  <p:tag name="KSO_WM_TEMPLATE_ASSEMBLE_GROUPID" val="60656f0e4054ed1e2fb802b1"/>
  <p:tag name="WM_BEAUTIFY_ZORDER_FLAG_TAG" val="5"/>
</p:tagLst>
</file>

<file path=ppt/tags/tag237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43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4"/>
</p:tagLst>
</file>

<file path=ppt/tags/tag244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7&quot;,&quot;maxSize&quot;:{&quot;size1&quot;:31.1},&quot;minSize&quot;:{&quot;size1&quot;:17.8},&quot;normalSize&quot;:{&quot;size1&quot;:17.8},&quot;subLayout&quot;:[{&quot;id&quot;:&quot;2023-07-01T17:18:37&quot;,&quot;maxSize&quot;:{&quot;size1&quot;:100},&quot;minSize&quot;:{&quot;size1&quot;:61.7},&quot;normalSize&quot;:{&quot;size1&quot;:61.7},&quot;subLayout&quot;:[{&quot;id&quot;:&quot;2023-07-01T17:18:37&quot;,&quot;margin&quot;:{&quot;bottom&quot;:0,&quot;left&quot;:1.2699999809265137,&quot;right&quot;:1.2699999809265137,&quot;top&quot;:0.4230000376701355},&quot;type&quot;:0},{&quot;id&quot;:&quot;2023-07-01T17:18:37&quot;,&quot;margin&quot;:{&quot;bottom&quot;:0.025999998673796654,&quot;left&quot;:1.2699999809265137,&quot;right&quot;:1.2699999809265137,&quot;top&quot;:0.025999998673796654},&quot;type&quot;:0}],&quot;type&quot;:0},{&quot;id&quot;:&quot;2023-07-01T17:18:37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5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5"/>
</p:tagLst>
</file>

<file path=ppt/tags/tag251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57.xml><?xml version="1.0" encoding="utf-8"?>
<p:tagLst xmlns:p="http://schemas.openxmlformats.org/presentationml/2006/main">
  <p:tag name="KSO_WM_UNIT_BLOCK" val="0"/>
  <p:tag name="KSO_WM_UNIT_DEC_AREA_ID" val="73156903ee894f5ca46a4cf72274fb1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008_1*i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UNIT_SM_LIMIT_TYPE" val="3"/>
  <p:tag name="KSO_WM_UNIT_DECORATE_INFO" val="{&quot;DecorateInfoH&quot;:{&quot;IsAbs&quot;:true},&quot;DecorateInfoW&quot;:{&quot;IsAbs&quot;:false},&quot;DecorateInfoX&quot;:{&quot;IsAbs&quot;:true,&quot;Pos&quot;:0},&quot;DecorateInfoY&quot;:{&quot;IsAbs&quot;:true,&quot;Pos&quot;:1},&quot;ReferentInfo&quot;:{&quot;Id&quot;:&quot;3fe90d637a704494ab24df4a7c7a8da5&quot;,&quot;X&quot;:{&quot;Pos&quot;:0},&quot;Y&quot;:{&quot;Pos&quot;:1}},&quot;whChangeMode&quot;:0}"/>
  <p:tag name="KSO_WM_CHIP_GROUPID" val="5efda0ca81ee359a788b1e11"/>
  <p:tag name="KSO_WM_CHIP_XID" val="5efda0ca81ee359a788b1e12"/>
  <p:tag name="KSO_WM_UNIT_FILL_FORE_SCHEMECOLOR_INDEX_BRIGHTNESS" val="0"/>
  <p:tag name="KSO_WM_UNIT_FILL_FORE_SCHEMECOLOR_INDEX" val="16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20"/>
  <p:tag name="KSO_WM_TEMPLATE_ASSEMBLE_XID" val="60656ea04054ed1e2fb7fcbc"/>
  <p:tag name="KSO_WM_TEMPLATE_ASSEMBLE_GROUPID" val="60656ea04054ed1e2fb7fcbc"/>
  <p:tag name="WM_BEAUTIFY_ZORDER_FLAG_TAG" val="4"/>
</p:tagLst>
</file>

<file path=ppt/tags/tag258.xml><?xml version="1.0" encoding="utf-8"?>
<p:tagLst xmlns:p="http://schemas.openxmlformats.org/presentationml/2006/main">
  <p:tag name="KSO_WM_UNIT_VALUE" val="931*1523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1008_1*d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bdd324361f642f5ac29827d9a82440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af17e483a774b2c871eee8c5f51145e"/>
  <p:tag name="KSO_WM_UNIT_PLACING_PICTURE" val="faf17e483a774b2c871eee8c5f51145e"/>
  <p:tag name="KSO_WM_TEMPLATE_ASSEMBLE_XID" val="60656ea04054ed1e2fb7fcbc"/>
  <p:tag name="KSO_WM_TEMPLATE_ASSEMBLE_GROUPID" val="60656ea04054ed1e2fb7fcbc"/>
  <p:tag name="WM_BEAUTIFY_ZORDER_FLAG_TAG" val="5"/>
</p:tagLst>
</file>

<file path=ppt/tags/tag25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008_1*f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8"/>
  <p:tag name="KSO_WM_UNIT_SHOW_EDIT_AREA_INDICATION" val="1"/>
  <p:tag name="KSO_WM_CHIP_GROUPID" val="5e6b05596848fb12bee65ac8"/>
  <p:tag name="KSO_WM_CHIP_XID" val="5e6b05596848fb12bee65aca"/>
  <p:tag name="KSO_WM_UNIT_DEC_AREA_ID" val="3fe90d637a704494ab24df4a7c7a8d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c9f53a6766c460e8a3870e58db9b32d"/>
  <p:tag name="KSO_WM_UNIT_TEXT_FILL_FORE_SCHEMECOLOR_INDEX_BRIGHTNESS" val="0.25"/>
  <p:tag name="KSO_WM_UNIT_TEXT_FILL_FORE_SCHEMECOLOR_INDEX" val="13"/>
  <p:tag name="KSO_WM_UNIT_TEXT_FILL_TYPE" val="1"/>
  <p:tag name="KSO_WM_TEMPLATE_ASSEMBLE_XID" val="60656ea04054ed1e2fb7fcbc"/>
  <p:tag name="KSO_WM_TEMPLATE_ASSEMBLE_GROUPID" val="60656ea04054ed1e2fb7fcbc"/>
  <p:tag name="WM_BEAUTIFY_ZORDER_FLAG_TAG" val="6"/>
</p:tagLst>
</file>

<file path=ppt/tags/tag260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6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5"/>
</p:tagLst>
</file>

<file path=ppt/tags/tag267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73.xml><?xml version="1.0" encoding="utf-8"?>
<p:tagLst xmlns:p="http://schemas.openxmlformats.org/presentationml/2006/main">
  <p:tag name="KSO_WM_UNIT_VALUE" val="381*76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2076_1*d*1"/>
  <p:tag name="KSO_WM_TEMPLATE_CATEGORY" val="diagram"/>
  <p:tag name="KSO_WM_TEMPLATE_INDEX" val="2021207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e0977ddcfab942c1a8f957812c87e95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35fd9b56673148af8bc0933fa5977402"/>
  <p:tag name="KSO_WM_UNIT_PLACING_PICTURE" val="35fd9b56673148af8bc0933fa5977402"/>
  <p:tag name="KSO_WM_UNIT_SUPPORT_UNIT_TYPE" val="[&quot;d&quot;,&quot;α&quot;,&quot;β&quot;]"/>
  <p:tag name="KSO_WM_TEMPLATE_ASSEMBLE_XID" val="639af9840c9383becde695b2"/>
  <p:tag name="KSO_WM_TEMPLATE_ASSEMBLE_GROUPID" val="639af9840c9383becde695b2"/>
  <p:tag name="WM_BEAUTIFY_ZORDER_FLAG_TAG" val="5"/>
</p:tagLst>
</file>

<file path=ppt/tags/tag27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076_1*f*1"/>
  <p:tag name="KSO_WM_TEMPLATE_CATEGORY" val="diagram"/>
  <p:tag name="KSO_WM_TEMPLATE_INDEX" val="2021207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40"/>
  <p:tag name="KSO_WM_UNIT_SHOW_EDIT_AREA_INDICATION" val="1"/>
  <p:tag name="KSO_WM_CHIP_GROUPID" val="5e6b05596848fb12bee65ac8"/>
  <p:tag name="KSO_WM_CHIP_XID" val="5e6b05596848fb12bee65aca"/>
  <p:tag name="KSO_WM_UNIT_DEC_AREA_ID" val="a44939a9ecde49c2b7ceab239baddf97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409b27c58b4941cea1b3fa7cc03b0257"/>
  <p:tag name="KSO_WM_UNIT_SUPPORT_UNIT_TYPE" val="[&quot;d&quot;,&quot;l&quot;,&quot;m&quot;,&quot;n&quot;,&quot;o&quot;,&quot;p&quot;,&quot;q&quot;,&quot;r&quot;,&quot;δ&quot;,&quot;ε&quot;,&quot;ζ&quot;,&quot;η&quot;,&quot;β&quot;,&quot;α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9af9840c9383becde695b2"/>
  <p:tag name="KSO_WM_TEMPLATE_ASSEMBLE_GROUPID" val="639af9840c9383becde695b2"/>
  <p:tag name="WM_BEAUTIFY_ZORDER_FLAG_TAG" val="6"/>
</p:tagLst>
</file>

<file path=ppt/tags/tag275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79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8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4"/>
</p:tagLst>
</file>

<file path=ppt/tags/tag281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20},&quot;minSize&quot;:{&quot;size1&quot;:11.2},&quot;normalSize&quot;:{&quot;size1&quot;:11.2},&quot;subLayout&quot;:[{&quot;id&quot;:&quot;2023-07-01T17:18:38&quot;,&quot;margin&quot;:{&quot;bottom&quot;:0.025999998673796654,&quot;left&quot;:1.2699999809265137,&quot;right&quot;:1.2699999809265137,&quot;top&quot;:0.4230000376701355}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8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5"/>
</p:tagLst>
</file>

<file path=ppt/tags/tag288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9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4"/>
</p:tagLst>
</file>

<file path=ppt/tags/tag295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01.xml><?xml version="1.0" encoding="utf-8"?>
<p:tagLst xmlns:p="http://schemas.openxmlformats.org/presentationml/2006/main">
  <p:tag name="KSO_WM_UNIT_BLOCK" val="0"/>
  <p:tag name="KSO_WM_UNIT_DEC_AREA_ID" val="73156903ee894f5ca46a4cf72274fb1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008_1*i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UNIT_SM_LIMIT_TYPE" val="3"/>
  <p:tag name="KSO_WM_UNIT_DECORATE_INFO" val="{&quot;DecorateInfoH&quot;:{&quot;IsAbs&quot;:true},&quot;DecorateInfoW&quot;:{&quot;IsAbs&quot;:false},&quot;DecorateInfoX&quot;:{&quot;IsAbs&quot;:true,&quot;Pos&quot;:0},&quot;DecorateInfoY&quot;:{&quot;IsAbs&quot;:true,&quot;Pos&quot;:1},&quot;ReferentInfo&quot;:{&quot;Id&quot;:&quot;3fe90d637a704494ab24df4a7c7a8da5&quot;,&quot;X&quot;:{&quot;Pos&quot;:0},&quot;Y&quot;:{&quot;Pos&quot;:1}},&quot;whChangeMode&quot;:0}"/>
  <p:tag name="KSO_WM_CHIP_GROUPID" val="5efda0ca81ee359a788b1e11"/>
  <p:tag name="KSO_WM_CHIP_XID" val="5efda0ca81ee359a788b1e12"/>
  <p:tag name="KSO_WM_UNIT_FILL_FORE_SCHEMECOLOR_INDEX_BRIGHTNESS" val="0"/>
  <p:tag name="KSO_WM_UNIT_FILL_FORE_SCHEMECOLOR_INDEX" val="16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20"/>
  <p:tag name="KSO_WM_TEMPLATE_ASSEMBLE_XID" val="60656ea04054ed1e2fb7fcbc"/>
  <p:tag name="KSO_WM_TEMPLATE_ASSEMBLE_GROUPID" val="60656ea04054ed1e2fb7fcbc"/>
  <p:tag name="WM_BEAUTIFY_ZORDER_FLAG_TAG" val="4"/>
</p:tagLst>
</file>

<file path=ppt/tags/tag30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008_1*f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8"/>
  <p:tag name="KSO_WM_UNIT_SHOW_EDIT_AREA_INDICATION" val="1"/>
  <p:tag name="KSO_WM_CHIP_GROUPID" val="5e6b05596848fb12bee65ac8"/>
  <p:tag name="KSO_WM_CHIP_XID" val="5e6b05596848fb12bee65aca"/>
  <p:tag name="KSO_WM_UNIT_DEC_AREA_ID" val="3fe90d637a704494ab24df4a7c7a8d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c9f53a6766c460e8a3870e58db9b32d"/>
  <p:tag name="KSO_WM_UNIT_TEXT_FILL_FORE_SCHEMECOLOR_INDEX_BRIGHTNESS" val="0.25"/>
  <p:tag name="KSO_WM_UNIT_TEXT_FILL_FORE_SCHEMECOLOR_INDEX" val="13"/>
  <p:tag name="KSO_WM_UNIT_TEXT_FILL_TYPE" val="1"/>
  <p:tag name="KSO_WM_TEMPLATE_ASSEMBLE_XID" val="60656ea04054ed1e2fb7fcbc"/>
  <p:tag name="KSO_WM_TEMPLATE_ASSEMBLE_GROUPID" val="60656ea04054ed1e2fb7fcbc"/>
  <p:tag name="WM_BEAUTIFY_ZORDER_FLAG_TAG" val="6"/>
</p:tagLst>
</file>

<file path=ppt/tags/tag303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0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5"/>
</p:tagLst>
</file>

<file path=ppt/tags/tag310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14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1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4"/>
</p:tagLst>
</file>

<file path=ppt/tags/tag316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20},&quot;minSize&quot;:{&quot;size1&quot;:11.2},&quot;normalSize&quot;:{&quot;size1&quot;:11.2},&quot;subLayout&quot;:[{&quot;id&quot;:&quot;2023-07-01T17:18:38&quot;,&quot;margin&quot;:{&quot;bottom&quot;:0.025999998673796654,&quot;left&quot;:1.2699999809265137,&quot;right&quot;:1.2699999809265137,&quot;top&quot;:0.4230000376701355}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2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4"/>
</p:tagLst>
</file>

<file path=ppt/tags/tag323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2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4"/>
</p:tagLst>
</file>

<file path=ppt/tags/tag330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31.1},&quot;minSize&quot;:{&quot;size1&quot;:17.8},&quot;normalSize&quot;:{&quot;size1&quot;:17.8},&quot;subLayout&quot;:[{&quot;id&quot;:&quot;2023-07-01T17:18:38&quot;,&quot;maxSize&quot;:{&quot;size1&quot;:100},&quot;minSize&quot;:{&quot;size1&quot;:61.7},&quot;normalSize&quot;:{&quot;size1&quot;:61.7},&quot;subLayout&quot;:[{&quot;id&quot;:&quot;2023-07-01T17:18:38&quot;,&quot;margin&quot;:{&quot;bottom&quot;:0,&quot;left&quot;:1.2699999809265137,&quot;right&quot;:1.2699999809265137,&quot;top&quot;:0.4230000376701355},&quot;type&quot;:0},{&quot;id&quot;:&quot;2023-07-01T17:18:38&quot;,&quot;margin&quot;:{&quot;bottom&quot;:0.025999998673796654,&quot;left&quot;:1.2699999809265137,&quot;right&quot;:1.2699999809265137,&quot;top&quot;:0.025999998673796654},&quot;type&quot;:0}]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34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35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20},&quot;minSize&quot;:{&quot;size1&quot;:11.2},&quot;normalSize&quot;:{&quot;size1&quot;:11.2},&quot;subLayout&quot;:[{&quot;id&quot;:&quot;2023-07-01T17:18:39&quot;,&quot;margin&quot;:{&quot;bottom&quot;:0.025999998673796654,&quot;left&quot;:1.2699999809265137,&quot;right&quot;:1.2699999809265137,&quot;top&quot;:0.4230000376701355}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39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4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4"/>
</p:tagLst>
</file>

<file path=ppt/tags/tag341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8&quot;,&quot;maxSize&quot;:{&quot;size1&quot;:20},&quot;minSize&quot;:{&quot;size1&quot;:11.2},&quot;normalSize&quot;:{&quot;size1&quot;:11.2},&quot;subLayout&quot;:[{&quot;id&quot;:&quot;2023-07-01T17:18:38&quot;,&quot;margin&quot;:{&quot;bottom&quot;:0.025999998673796654,&quot;left&quot;:1.2699999809265137,&quot;right&quot;:1.2699999809265137,&quot;top&quot;:0.4230000376701355},&quot;type&quot;:0},{&quot;id&quot;:&quot;2023-07-01T17:18:38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45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4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4"/>
</p:tagLst>
</file>

<file path=ppt/tags/tag347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20},&quot;minSize&quot;:{&quot;size1&quot;:11.2},&quot;normalSize&quot;:{&quot;size1&quot;:11.2},&quot;subLayout&quot;:[{&quot;id&quot;:&quot;2023-07-01T17:18:39&quot;,&quot;margin&quot;:{&quot;bottom&quot;:0.025999998673796654,&quot;left&quot;:1.2699999809265137,&quot;right&quot;:1.2699999809265137,&quot;top&quot;:0.4230000376701355}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</p:tagLst>
</file>

<file path=ppt/tags/tag353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31.1},&quot;minSize&quot;:{&quot;size1&quot;:17.8},&quot;normalSize&quot;:{&quot;size1&quot;:17.8},&quot;subLayout&quot;:[{&quot;id&quot;:&quot;2023-07-01T17:18:39&quot;,&quot;maxSize&quot;:{&quot;size1&quot;:100},&quot;minSize&quot;:{&quot;size1&quot;:61.7},&quot;normalSize&quot;:{&quot;size1&quot;:61.7},&quot;subLayout&quot;:[{&quot;id&quot;:&quot;2023-07-01T17:18:39&quot;,&quot;margin&quot;:{&quot;bottom&quot;:0,&quot;left&quot;:1.2699999809265137,&quot;right&quot;:1.2699999809265137,&quot;top&quot;:0.4230000376701355},&quot;type&quot;:0},{&quot;id&quot;:&quot;2023-07-01T17:18:39&quot;,&quot;margin&quot;:{&quot;bottom&quot;:0.025999998673796654,&quot;left&quot;:1.2699999809265137,&quot;right&quot;:1.2699999809265137,&quot;top&quot;:0.025999998673796654},&quot;type&quot;:0}]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5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5"/>
</p:tagLst>
</file>

<file path=ppt/tags/tag360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31.1},&quot;minSize&quot;:{&quot;size1&quot;:17.8},&quot;normalSize&quot;:{&quot;size1&quot;:17.8},&quot;subLayout&quot;:[{&quot;id&quot;:&quot;2023-07-01T17:18:39&quot;,&quot;maxSize&quot;:{&quot;size1&quot;:100},&quot;minSize&quot;:{&quot;size1&quot;:61.7},&quot;normalSize&quot;:{&quot;size1&quot;:61.7},&quot;subLayout&quot;:[{&quot;id&quot;:&quot;2023-07-01T17:18:39&quot;,&quot;margin&quot;:{&quot;bottom&quot;:0,&quot;left&quot;:1.2699999809265137,&quot;right&quot;:1.2699999809265137,&quot;top&quot;:0.4230000376701355},&quot;type&quot;:0},{&quot;id&quot;:&quot;2023-07-01T17:18:39&quot;,&quot;margin&quot;:{&quot;bottom&quot;:0.025999998673796654,&quot;left&quot;:1.2699999809265137,&quot;right&quot;:1.2699999809265137,&quot;top&quot;:0.025999998673796654},&quot;type&quot;:0}]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6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5"/>
</p:tagLst>
</file>

<file path=ppt/tags/tag367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31.1},&quot;minSize&quot;:{&quot;size1&quot;:17.8},&quot;normalSize&quot;:{&quot;size1&quot;:17.8},&quot;subLayout&quot;:[{&quot;id&quot;:&quot;2023-07-01T17:18:39&quot;,&quot;maxSize&quot;:{&quot;size1&quot;:100},&quot;minSize&quot;:{&quot;size1&quot;:61.7},&quot;normalSize&quot;:{&quot;size1&quot;:61.7},&quot;subLayout&quot;:[{&quot;id&quot;:&quot;2023-07-01T17:18:39&quot;,&quot;margin&quot;:{&quot;bottom&quot;:0,&quot;left&quot;:1.2699999809265137,&quot;right&quot;:1.2699999809265137,&quot;top&quot;:0.4230000376701355},&quot;type&quot;:0},{&quot;id&quot;:&quot;2023-07-01T17:18:39&quot;,&quot;margin&quot;:{&quot;bottom&quot;:0.025999998673796654,&quot;left&quot;:1.2699999809265137,&quot;right&quot;:1.2699999809265137,&quot;top&quot;:0.025999998673796654},&quot;type&quot;:0}]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71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7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4"/>
</p:tagLst>
</file>

<file path=ppt/tags/tag373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20},&quot;minSize&quot;:{&quot;size1&quot;:11.2},&quot;normalSize&quot;:{&quot;size1&quot;:11.2},&quot;subLayout&quot;:[{&quot;id&quot;:&quot;2023-07-01T17:18:39&quot;,&quot;margin&quot;:{&quot;bottom&quot;:0.025999998673796654,&quot;left&quot;:1.2699999809265137,&quot;right&quot;:1.2699999809265137,&quot;top&quot;:0.4230000376701355}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7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4"/>
</p:tagLst>
</file>

<file path=ppt/tags/tag380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31.1},&quot;minSize&quot;:{&quot;size1&quot;:17.8},&quot;normalSize&quot;:{&quot;size1&quot;:17.8},&quot;subLayout&quot;:[{&quot;id&quot;:&quot;2023-07-01T17:18:39&quot;,&quot;maxSize&quot;:{&quot;size1&quot;:100},&quot;minSize&quot;:{&quot;size1&quot;:61.7},&quot;normalSize&quot;:{&quot;size1&quot;:61.7},&quot;subLayout&quot;:[{&quot;id&quot;:&quot;2023-07-01T17:18:39&quot;,&quot;margin&quot;:{&quot;bottom&quot;:0,&quot;left&quot;:1.2699999809265137,&quot;right&quot;:1.2699999809265137,&quot;top&quot;:0.4230000376701355},&quot;type&quot;:0},{&quot;id&quot;:&quot;2023-07-01T17:18:39&quot;,&quot;margin&quot;:{&quot;bottom&quot;:0.025999998673796654,&quot;left&quot;:1.2699999809265137,&quot;right&quot;:1.2699999809265137,&quot;top&quot;:0.025999998673796654},&quot;type&quot;:0}]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8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4"/>
</p:tagLst>
</file>

<file path=ppt/tags/tag387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31.1},&quot;minSize&quot;:{&quot;size1&quot;:17.8},&quot;normalSize&quot;:{&quot;size1&quot;:17.8},&quot;subLayout&quot;:[{&quot;id&quot;:&quot;2023-07-01T17:18:39&quot;,&quot;maxSize&quot;:{&quot;size1&quot;:100},&quot;minSize&quot;:{&quot;size1&quot;:61.7},&quot;normalSize&quot;:{&quot;size1&quot;:61.7},&quot;subLayout&quot;:[{&quot;id&quot;:&quot;2023-07-01T17:18:39&quot;,&quot;margin&quot;:{&quot;bottom&quot;:0,&quot;left&quot;:1.2699999809265137,&quot;right&quot;:1.2699999809265137,&quot;top&quot;:0.4230000376701355},&quot;type&quot;:0},{&quot;id&quot;:&quot;2023-07-01T17:18:39&quot;,&quot;margin&quot;:{&quot;bottom&quot;:0.025999998673796654,&quot;left&quot;:1.2699999809265137,&quot;right&quot;:1.2699999809265137,&quot;top&quot;:0.025999998673796654},&quot;type&quot;:0}]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393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5"/>
</p:tagLst>
</file>

<file path=ppt/tags/tag394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3-07-01T17:18:39&quot;,&quot;maxSize&quot;:{&quot;size1&quot;:31.1},&quot;minSize&quot;:{&quot;size1&quot;:17.8},&quot;normalSize&quot;:{&quot;size1&quot;:17.8},&quot;subLayout&quot;:[{&quot;id&quot;:&quot;2023-07-01T17:18:39&quot;,&quot;maxSize&quot;:{&quot;size1&quot;:100},&quot;minSize&quot;:{&quot;size1&quot;:61.7},&quot;normalSize&quot;:{&quot;size1&quot;:61.7},&quot;subLayout&quot;:[{&quot;id&quot;:&quot;2023-07-01T17:18:39&quot;,&quot;margin&quot;:{&quot;bottom&quot;:0,&quot;left&quot;:1.2699999809265137,&quot;right&quot;:1.2699999809265137,&quot;top&quot;:0.4230000376701355},&quot;type&quot;:0},{&quot;id&quot;:&quot;2023-07-01T17:18:39&quot;,&quot;margin&quot;:{&quot;bottom&quot;:0.025999998673796654,&quot;left&quot;:1.2699999809265137,&quot;right&quot;:1.2699999809265137,&quot;top&quot;:0.025999998673796654},&quot;type&quot;:0}],&quot;type&quot;:0},{&quot;id&quot;:&quot;2023-07-01T17:18:39&quot;,&quot;margin&quot;:{&quot;bottom&quot;:0.847000002861023,&quot;left&quot;:1.2699999809265137,&quot;right&quot;:1.2699999809265137,&quot;top&quot;:1.2699999809265137},&quot;type&quot;:0}],&quot;type&quot;:0}"/>
  <p:tag name="KSO_WM_SLIDE_BACKGROUND_TYPE" val="general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5_15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S"/>
  <p:tag name="KSO_WM_UNIT_TEXT_FILL_FORE_SCHEMECOLOR_INDEX_BRIGHTNESS" val="0"/>
  <p:tag name="KSO_WM_UNIT_TEXT_FILL_FORE_SCHEMECOLOR_INDEX" val="5"/>
  <p:tag name="KSO_WM_UNIT_TEXT_FILL_TYPE" val="1"/>
</p:tagLst>
</file>

<file path=ppt/tags/tag396.xml><?xml version="1.0" encoding="utf-8"?>
<p:tagLst xmlns:p="http://schemas.openxmlformats.org/presentationml/2006/main">
  <p:tag name="KSO_WM_SLIDE_ID" val="custom20206915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6915"/>
  <p:tag name="KSO_WM_SLIDE_TYPE" val="endPage"/>
  <p:tag name="KSO_WM_SLIDE_SUBTYPE" val="pureTxt"/>
  <p:tag name="KSO_WM_SLIDE_LAYOUT" val="a"/>
  <p:tag name="KSO_WM_SLIDE_LAYOUT_CNT" val="1"/>
</p:tagLst>
</file>

<file path=ppt/tags/tag397.xml><?xml version="1.0" encoding="utf-8"?>
<p:tagLst xmlns:p="http://schemas.openxmlformats.org/presentationml/2006/main">
  <p:tag name="KSO_WPP_MARK_KEY" val="785a7ed9-179c-4b1d-9977-6890e4e6b288"/>
  <p:tag name="COMMONDATA" val="eyJoZGlkIjoiMjJiNWQxMzM1MWNmYTdjOGE5NWNkODk4YzI2ZTYwNT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11387</Words>
  <Application>WPS 演示</Application>
  <PresentationFormat>宽屏</PresentationFormat>
  <Paragraphs>517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Segoe UI</vt:lpstr>
      <vt:lpstr>Arial Unicode MS</vt:lpstr>
      <vt:lpstr>Arial Black</vt:lpstr>
      <vt:lpstr>Calibri</vt:lpstr>
      <vt:lpstr>Times New Roman</vt:lpstr>
      <vt:lpstr>Courier New</vt:lpstr>
      <vt:lpstr>楷体_GB2312</vt:lpstr>
      <vt:lpstr>新宋体</vt:lpstr>
      <vt:lpstr>汉仪青云简</vt:lpstr>
      <vt:lpstr>Wingdings</vt:lpstr>
      <vt:lpstr>Office 主题​​</vt:lpstr>
      <vt:lpstr>1_Office 主题​​</vt:lpstr>
      <vt:lpstr>第 8 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dlg</cp:lastModifiedBy>
  <cp:revision>48</cp:revision>
  <dcterms:created xsi:type="dcterms:W3CDTF">2023-07-01T09:18:00Z</dcterms:created>
  <dcterms:modified xsi:type="dcterms:W3CDTF">2023-07-02T02:57:30Z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2052-11.1.0.12155</vt:lpwstr>
  </property>
  <property fmtid="{D5CDD505-2E9C-101B-9397-08002B2CF9AE}" pid="3" name="ICV">
    <vt:lpwstr/>
  </property>
</Properties>
</file>